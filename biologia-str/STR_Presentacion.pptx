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JORGE: Buenos días. Somos Jorge, Raquel, Misael y Amet, y hoy les presentaremos una técnica de manipulación del ADN: los STR, o repeticiones cortas en tándem.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JORGE: Los STR son secuencias cortas de ADN, de entre dos y seis pares de bases, que se repiten una detrás de otra, por ejemplo: AGAT, AGAT, AGAT. A eso se le llama "en tándem". Se encuentran principalmente en regiones del ADN que no codifican proteínas, por lo que pueden variar sin afectar nuestra salud.
Lo interesante es que todos tenemos los mismos STR en los mismos lugares de los cromosomas, llamados loci, pero el número de repeticiones cambia de persona a persona. Como ven en el esquema, en un mismo locus una persona puede tener cinco repeticiones y otra, ocho. Además, heredamos una copia de nuestra madre y otra de nuestro padre, así que en cada locus tenemos dos valores.
Ahora Raquel les explicará cómo se obtiene este perfil en el laboratorio.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RAQUEL: Gracias, Jorge. El análisis de STR se realiza en cinco pasos.
Primero, la toma de muestra: basta una pequeña cantidad de sangre, saliva, cabello con raíz o incluso restos de hueso.
Segundo, la extracción: se rompen las células y se separa y purifica el ADN del resto de sus componentes.
Tercero, la amplificación por PCR. Como la muestra suele tener muy poco ADN, se usan primers que se unen justo a los lados de cada STR para copiarlo millones de veces. Se llama PCR multiplex porque se amplifican muchos loci al mismo tiempo, y los primers llevan marcadores fluorescentes.
Cuarto, la electroforesis: los fragmentos copiados se separan según su tamaño, normalmente dentro de un tubo capilar muy delgado.
Y quinto, el análisis: un láser detecta la fluorescencia y la computadora genera un gráfico de picos llamado electroferograma. El resultado es un perfil de números —cuántas repeticiones hay en cada locus— que se compara con otras muestras.
Misael les explicará por qué esto funciona.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MISAEL: Gracias, Raquel. La técnica funciona gracias a dos principios.
El primero es la PCR, que imita la replicación del ADN. En cada ciclo, el ADN se calienta a unos 95 °C para separar sus hebras; luego se enfría a entre 55 y 65 °C para que los primers se unan; y finalmente, a 72 °C, la ADN polimerasa construye las nuevas hebras. Cada ciclo duplica la cantidad de ADN, así que en unos 30 ciclos obtenemos cerca de mil millones de copias.
El segundo es la electroforesis. El ADN tiene carga negativa por sus grupos fosfato, así que se mueve hacia el polo positivo. Los fragmentos más cortos, es decir, con menos repeticiones, avanzan más rápido que los largos, y así podemos saber cuántas repeticiones tiene cada uno.
¿Y por qué es tan preciso? Porque no se analiza un solo locus, sino varios a la vez: el FBI utiliza 20. Al multiplicar la probabilidad de cada uno, la posibilidad de que dos personas no emparentadas tengan el mismo perfil es menor a una en un billón.
Amet les contará dónde se aplica.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AMET: Gracias, Misael. Los STR se aplican en varios tipos de biotecnología.
En la biotecnología forense, se compara el ADN encontrado en la escena de un crimen con el de sospechosos o con bases de datos como CODIS. También sirve para identificar víctimas de desastres y personas desaparecidas, y ha ayudado a liberar a personas condenadas injustamente.
En la biotecnología médica, se usa en pruebas de paternidad y parentesco, ya que la mitad de nuestros alelos vienen de cada progenitor. También permite vigilar un trasplante de médula ósea: si en la sangre del paciente aparecen los STR del donante, el trasplante está funcionando. Y los laboratorios lo usan para comprobar que sus líneas celulares no estén contaminadas.
En la biotecnología agrícola y ambiental, sirve para certificar variedades de cultivos y razas de ganado, rastrear el origen de la carne y combatir el tráfico ilegal de especies en peligro.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Diapositiva de apoyo: se muestra al final o si el profesor la pide.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AMET: En conclusión, unas cuantas repeticiones de cuatro letras bastan para distinguir a una persona entre miles de millones. Muchas gracias. ¿Tienen alguna pregunta?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1.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1B2C"/>
        </a:solidFill>
      </p:bgPr>
    </p:bg>
    <p:spTree>
      <p:nvGrpSpPr>
        <p:cNvPr id="1" name=""/>
        <p:cNvGrpSpPr/>
        <p:nvPr/>
      </p:nvGrpSpPr>
      <p:grpSpPr>
        <a:xfrm>
          <a:off x="0" y="0"/>
          <a:ext cx="0" cy="0"/>
          <a:chOff x="0" y="0"/>
          <a:chExt cx="0" cy="0"/>
        </a:xfrm>
      </p:grpSpPr>
      <p:sp>
        <p:nvSpPr>
          <p:cNvPr id="2" name="Shape 0"/>
          <p:cNvSpPr/>
          <p:nvPr/>
        </p:nvSpPr>
        <p:spPr>
          <a:xfrm>
            <a:off x="457200" y="502920"/>
            <a:ext cx="603504" cy="310896"/>
          </a:xfrm>
          <a:prstGeom prst="roundRect">
            <a:avLst>
              <a:gd name="adj" fmla="val 17647"/>
            </a:avLst>
          </a:prstGeom>
          <a:solidFill>
            <a:srgbClr val="14B8A6"/>
          </a:solidFill>
          <a:ln/>
        </p:spPr>
      </p:sp>
      <p:sp>
        <p:nvSpPr>
          <p:cNvPr id="3" name="Text 1"/>
          <p:cNvSpPr txBox="1"/>
          <p:nvPr/>
        </p:nvSpPr>
        <p:spPr>
          <a:xfrm>
            <a:off x="457200" y="502920"/>
            <a:ext cx="60350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AGAT</a:t>
            </a:r>
            <a:endParaRPr lang="en-US" sz="1000" dirty="0"/>
          </a:p>
        </p:txBody>
      </p:sp>
      <p:sp>
        <p:nvSpPr>
          <p:cNvPr id="4" name="Shape 2"/>
          <p:cNvSpPr/>
          <p:nvPr/>
        </p:nvSpPr>
        <p:spPr>
          <a:xfrm>
            <a:off x="1115568" y="502920"/>
            <a:ext cx="603504" cy="310896"/>
          </a:xfrm>
          <a:prstGeom prst="roundRect">
            <a:avLst>
              <a:gd name="adj" fmla="val 17647"/>
            </a:avLst>
          </a:prstGeom>
          <a:solidFill>
            <a:srgbClr val="F6B93B"/>
          </a:solidFill>
          <a:ln/>
        </p:spPr>
      </p:sp>
      <p:sp>
        <p:nvSpPr>
          <p:cNvPr id="5" name="Text 3"/>
          <p:cNvSpPr txBox="1"/>
          <p:nvPr/>
        </p:nvSpPr>
        <p:spPr>
          <a:xfrm>
            <a:off x="1115568" y="502920"/>
            <a:ext cx="60350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AGAT</a:t>
            </a:r>
            <a:endParaRPr lang="en-US" sz="1000" dirty="0"/>
          </a:p>
        </p:txBody>
      </p:sp>
      <p:sp>
        <p:nvSpPr>
          <p:cNvPr id="6" name="Shape 4"/>
          <p:cNvSpPr/>
          <p:nvPr/>
        </p:nvSpPr>
        <p:spPr>
          <a:xfrm>
            <a:off x="1773936" y="502920"/>
            <a:ext cx="603504" cy="310896"/>
          </a:xfrm>
          <a:prstGeom prst="roundRect">
            <a:avLst>
              <a:gd name="adj" fmla="val 17647"/>
            </a:avLst>
          </a:prstGeom>
          <a:solidFill>
            <a:srgbClr val="E4407B"/>
          </a:solidFill>
          <a:ln/>
        </p:spPr>
      </p:sp>
      <p:sp>
        <p:nvSpPr>
          <p:cNvPr id="7" name="Text 5"/>
          <p:cNvSpPr txBox="1"/>
          <p:nvPr/>
        </p:nvSpPr>
        <p:spPr>
          <a:xfrm>
            <a:off x="1773936" y="502920"/>
            <a:ext cx="60350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AGAT</a:t>
            </a:r>
            <a:endParaRPr lang="en-US" sz="1000" dirty="0"/>
          </a:p>
        </p:txBody>
      </p:sp>
      <p:sp>
        <p:nvSpPr>
          <p:cNvPr id="8" name="Shape 6"/>
          <p:cNvSpPr/>
          <p:nvPr/>
        </p:nvSpPr>
        <p:spPr>
          <a:xfrm>
            <a:off x="2432304" y="502920"/>
            <a:ext cx="603504" cy="310896"/>
          </a:xfrm>
          <a:prstGeom prst="roundRect">
            <a:avLst>
              <a:gd name="adj" fmla="val 17647"/>
            </a:avLst>
          </a:prstGeom>
          <a:solidFill>
            <a:srgbClr val="6C83F5"/>
          </a:solidFill>
          <a:ln/>
        </p:spPr>
      </p:sp>
      <p:sp>
        <p:nvSpPr>
          <p:cNvPr id="9" name="Text 7"/>
          <p:cNvSpPr txBox="1"/>
          <p:nvPr/>
        </p:nvSpPr>
        <p:spPr>
          <a:xfrm>
            <a:off x="2432304" y="502920"/>
            <a:ext cx="60350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AGAT</a:t>
            </a:r>
            <a:endParaRPr lang="en-US" sz="1000" dirty="0"/>
          </a:p>
        </p:txBody>
      </p:sp>
      <p:sp>
        <p:nvSpPr>
          <p:cNvPr id="10" name="Shape 8"/>
          <p:cNvSpPr/>
          <p:nvPr/>
        </p:nvSpPr>
        <p:spPr>
          <a:xfrm>
            <a:off x="3090672" y="502920"/>
            <a:ext cx="603504" cy="310896"/>
          </a:xfrm>
          <a:prstGeom prst="roundRect">
            <a:avLst>
              <a:gd name="adj" fmla="val 17647"/>
            </a:avLst>
          </a:prstGeom>
          <a:solidFill>
            <a:srgbClr val="14B8A6"/>
          </a:solidFill>
          <a:ln/>
        </p:spPr>
      </p:sp>
      <p:sp>
        <p:nvSpPr>
          <p:cNvPr id="11" name="Text 9"/>
          <p:cNvSpPr txBox="1"/>
          <p:nvPr/>
        </p:nvSpPr>
        <p:spPr>
          <a:xfrm>
            <a:off x="3090672" y="502920"/>
            <a:ext cx="60350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AGAT</a:t>
            </a:r>
            <a:endParaRPr lang="en-US" sz="1000" dirty="0"/>
          </a:p>
        </p:txBody>
      </p:sp>
      <p:sp>
        <p:nvSpPr>
          <p:cNvPr id="12" name="Shape 10"/>
          <p:cNvSpPr/>
          <p:nvPr/>
        </p:nvSpPr>
        <p:spPr>
          <a:xfrm>
            <a:off x="3749040" y="502920"/>
            <a:ext cx="603504" cy="310896"/>
          </a:xfrm>
          <a:prstGeom prst="roundRect">
            <a:avLst>
              <a:gd name="adj" fmla="val 17647"/>
            </a:avLst>
          </a:prstGeom>
          <a:solidFill>
            <a:srgbClr val="F6B93B"/>
          </a:solidFill>
          <a:ln/>
        </p:spPr>
      </p:sp>
      <p:sp>
        <p:nvSpPr>
          <p:cNvPr id="13" name="Text 11"/>
          <p:cNvSpPr txBox="1"/>
          <p:nvPr/>
        </p:nvSpPr>
        <p:spPr>
          <a:xfrm>
            <a:off x="3749040" y="502920"/>
            <a:ext cx="60350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AGAT</a:t>
            </a:r>
            <a:endParaRPr lang="en-US" sz="1000" dirty="0"/>
          </a:p>
        </p:txBody>
      </p:sp>
      <p:sp>
        <p:nvSpPr>
          <p:cNvPr id="14" name="Shape 12"/>
          <p:cNvSpPr/>
          <p:nvPr/>
        </p:nvSpPr>
        <p:spPr>
          <a:xfrm>
            <a:off x="4407408" y="502920"/>
            <a:ext cx="603504" cy="310896"/>
          </a:xfrm>
          <a:prstGeom prst="roundRect">
            <a:avLst>
              <a:gd name="adj" fmla="val 17647"/>
            </a:avLst>
          </a:prstGeom>
          <a:solidFill>
            <a:srgbClr val="E4407B"/>
          </a:solidFill>
          <a:ln/>
        </p:spPr>
      </p:sp>
      <p:sp>
        <p:nvSpPr>
          <p:cNvPr id="15" name="Text 13"/>
          <p:cNvSpPr txBox="1"/>
          <p:nvPr/>
        </p:nvSpPr>
        <p:spPr>
          <a:xfrm>
            <a:off x="4407408" y="502920"/>
            <a:ext cx="60350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AGAT</a:t>
            </a:r>
            <a:endParaRPr lang="en-US" sz="1000" dirty="0"/>
          </a:p>
        </p:txBody>
      </p:sp>
      <p:sp>
        <p:nvSpPr>
          <p:cNvPr id="16" name="Shape 14"/>
          <p:cNvSpPr/>
          <p:nvPr/>
        </p:nvSpPr>
        <p:spPr>
          <a:xfrm>
            <a:off x="5065776" y="502920"/>
            <a:ext cx="603504" cy="310896"/>
          </a:xfrm>
          <a:prstGeom prst="roundRect">
            <a:avLst>
              <a:gd name="adj" fmla="val 17647"/>
            </a:avLst>
          </a:prstGeom>
          <a:solidFill>
            <a:srgbClr val="6C83F5"/>
          </a:solidFill>
          <a:ln/>
        </p:spPr>
      </p:sp>
      <p:sp>
        <p:nvSpPr>
          <p:cNvPr id="17" name="Text 15"/>
          <p:cNvSpPr txBox="1"/>
          <p:nvPr/>
        </p:nvSpPr>
        <p:spPr>
          <a:xfrm>
            <a:off x="5065776" y="502920"/>
            <a:ext cx="60350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AGAT</a:t>
            </a:r>
            <a:endParaRPr lang="en-US" sz="1000" dirty="0"/>
          </a:p>
        </p:txBody>
      </p:sp>
      <p:sp>
        <p:nvSpPr>
          <p:cNvPr id="18" name="Shape 16"/>
          <p:cNvSpPr/>
          <p:nvPr/>
        </p:nvSpPr>
        <p:spPr>
          <a:xfrm>
            <a:off x="5724144" y="502920"/>
            <a:ext cx="603504" cy="310896"/>
          </a:xfrm>
          <a:prstGeom prst="roundRect">
            <a:avLst>
              <a:gd name="adj" fmla="val 17647"/>
            </a:avLst>
          </a:prstGeom>
          <a:solidFill>
            <a:srgbClr val="14B8A6"/>
          </a:solidFill>
          <a:ln/>
        </p:spPr>
      </p:sp>
      <p:sp>
        <p:nvSpPr>
          <p:cNvPr id="19" name="Text 17"/>
          <p:cNvSpPr txBox="1"/>
          <p:nvPr/>
        </p:nvSpPr>
        <p:spPr>
          <a:xfrm>
            <a:off x="5724144" y="502920"/>
            <a:ext cx="60350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AGAT</a:t>
            </a:r>
            <a:endParaRPr lang="en-US" sz="1000" dirty="0"/>
          </a:p>
        </p:txBody>
      </p:sp>
      <p:sp>
        <p:nvSpPr>
          <p:cNvPr id="20" name="Shape 18"/>
          <p:cNvSpPr/>
          <p:nvPr/>
        </p:nvSpPr>
        <p:spPr>
          <a:xfrm>
            <a:off x="6382512" y="502920"/>
            <a:ext cx="603504" cy="310896"/>
          </a:xfrm>
          <a:prstGeom prst="roundRect">
            <a:avLst>
              <a:gd name="adj" fmla="val 17647"/>
            </a:avLst>
          </a:prstGeom>
          <a:solidFill>
            <a:srgbClr val="F6B93B"/>
          </a:solidFill>
          <a:ln/>
        </p:spPr>
      </p:sp>
      <p:sp>
        <p:nvSpPr>
          <p:cNvPr id="21" name="Text 19"/>
          <p:cNvSpPr txBox="1"/>
          <p:nvPr/>
        </p:nvSpPr>
        <p:spPr>
          <a:xfrm>
            <a:off x="6382512" y="502920"/>
            <a:ext cx="60350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AGAT</a:t>
            </a:r>
            <a:endParaRPr lang="en-US" sz="1000" dirty="0"/>
          </a:p>
        </p:txBody>
      </p:sp>
      <p:sp>
        <p:nvSpPr>
          <p:cNvPr id="22" name="Shape 20"/>
          <p:cNvSpPr/>
          <p:nvPr/>
        </p:nvSpPr>
        <p:spPr>
          <a:xfrm>
            <a:off x="7040880" y="502920"/>
            <a:ext cx="603504" cy="310896"/>
          </a:xfrm>
          <a:prstGeom prst="roundRect">
            <a:avLst>
              <a:gd name="adj" fmla="val 17647"/>
            </a:avLst>
          </a:prstGeom>
          <a:solidFill>
            <a:srgbClr val="E4407B"/>
          </a:solidFill>
          <a:ln/>
        </p:spPr>
      </p:sp>
      <p:sp>
        <p:nvSpPr>
          <p:cNvPr id="23" name="Text 21"/>
          <p:cNvSpPr txBox="1"/>
          <p:nvPr/>
        </p:nvSpPr>
        <p:spPr>
          <a:xfrm>
            <a:off x="7040880" y="502920"/>
            <a:ext cx="60350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AGAT</a:t>
            </a:r>
            <a:endParaRPr lang="en-US" sz="1000" dirty="0"/>
          </a:p>
        </p:txBody>
      </p:sp>
      <p:sp>
        <p:nvSpPr>
          <p:cNvPr id="24" name="Shape 22"/>
          <p:cNvSpPr/>
          <p:nvPr/>
        </p:nvSpPr>
        <p:spPr>
          <a:xfrm>
            <a:off x="7699248" y="502920"/>
            <a:ext cx="603504" cy="310896"/>
          </a:xfrm>
          <a:prstGeom prst="roundRect">
            <a:avLst>
              <a:gd name="adj" fmla="val 17647"/>
            </a:avLst>
          </a:prstGeom>
          <a:solidFill>
            <a:srgbClr val="6C83F5"/>
          </a:solidFill>
          <a:ln/>
        </p:spPr>
      </p:sp>
      <p:sp>
        <p:nvSpPr>
          <p:cNvPr id="25" name="Text 23"/>
          <p:cNvSpPr txBox="1"/>
          <p:nvPr/>
        </p:nvSpPr>
        <p:spPr>
          <a:xfrm>
            <a:off x="7699248" y="502920"/>
            <a:ext cx="60350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AGAT</a:t>
            </a:r>
            <a:endParaRPr lang="en-US" sz="1000" dirty="0"/>
          </a:p>
        </p:txBody>
      </p:sp>
      <p:sp>
        <p:nvSpPr>
          <p:cNvPr id="26" name="Text 24"/>
          <p:cNvSpPr txBox="1"/>
          <p:nvPr/>
        </p:nvSpPr>
        <p:spPr>
          <a:xfrm>
            <a:off x="457200" y="1325880"/>
            <a:ext cx="8229600" cy="320040"/>
          </a:xfrm>
          <a:prstGeom prst="rect">
            <a:avLst/>
          </a:prstGeom>
          <a:noFill/>
          <a:ln/>
        </p:spPr>
        <p:txBody>
          <a:bodyPr wrap="square" lIns="0" tIns="0" rIns="0" bIns="0" rtlCol="0" anchor="ctr"/>
          <a:lstStyle/>
          <a:p>
            <a:pPr indent="0" marL="0">
              <a:buNone/>
            </a:pPr>
            <a:r>
              <a:rPr lang="en-US" sz="1300" b="1" spc="200" kern="0" dirty="0">
                <a:solidFill>
                  <a:srgbClr val="14B8A6"/>
                </a:solidFill>
                <a:latin typeface="Calibri" pitchFamily="34" charset="0"/>
                <a:ea typeface="Calibri" pitchFamily="34" charset="-122"/>
                <a:cs typeface="Calibri" pitchFamily="34" charset="-120"/>
              </a:rPr>
              <a:t>TÉCNICAS DE MANIPULACIÓN DEL ADN Y SUS APLICACIONES</a:t>
            </a:r>
            <a:endParaRPr lang="en-US" sz="1300" dirty="0"/>
          </a:p>
        </p:txBody>
      </p:sp>
      <p:sp>
        <p:nvSpPr>
          <p:cNvPr id="27" name="Text 25"/>
          <p:cNvSpPr txBox="1"/>
          <p:nvPr/>
        </p:nvSpPr>
        <p:spPr>
          <a:xfrm>
            <a:off x="457200" y="1691640"/>
            <a:ext cx="8229600" cy="1097280"/>
          </a:xfrm>
          <a:prstGeom prst="rect">
            <a:avLst/>
          </a:prstGeom>
          <a:noFill/>
          <a:ln/>
        </p:spPr>
        <p:txBody>
          <a:bodyPr wrap="square" lIns="0" tIns="0" rIns="0" bIns="0" rtlCol="0" anchor="ctr"/>
          <a:lstStyle/>
          <a:p>
            <a:pPr indent="0" marL="0">
              <a:buNone/>
            </a:pPr>
            <a:r>
              <a:rPr lang="en-US" sz="8000" b="1" dirty="0">
                <a:solidFill>
                  <a:srgbClr val="FFFFFF"/>
                </a:solidFill>
                <a:latin typeface="Cambria" pitchFamily="34" charset="0"/>
                <a:ea typeface="Cambria" pitchFamily="34" charset="-122"/>
                <a:cs typeface="Cambria" pitchFamily="34" charset="-120"/>
              </a:rPr>
              <a:t>STR</a:t>
            </a:r>
            <a:endParaRPr lang="en-US" sz="8000" dirty="0"/>
          </a:p>
        </p:txBody>
      </p:sp>
      <p:sp>
        <p:nvSpPr>
          <p:cNvPr id="28" name="Text 26"/>
          <p:cNvSpPr txBox="1"/>
          <p:nvPr/>
        </p:nvSpPr>
        <p:spPr>
          <a:xfrm>
            <a:off x="457200" y="2743200"/>
            <a:ext cx="8229600" cy="548640"/>
          </a:xfrm>
          <a:prstGeom prst="rect">
            <a:avLst/>
          </a:prstGeom>
          <a:noFill/>
          <a:ln/>
        </p:spPr>
        <p:txBody>
          <a:bodyPr wrap="square" lIns="0" tIns="0" rIns="0" bIns="0" rtlCol="0" anchor="ctr"/>
          <a:lstStyle/>
          <a:p>
            <a:pPr indent="0" marL="0">
              <a:buNone/>
            </a:pPr>
            <a:r>
              <a:rPr lang="en-US" sz="2800" i="1" dirty="0">
                <a:solidFill>
                  <a:srgbClr val="F6B93B"/>
                </a:solidFill>
                <a:latin typeface="Cambria" pitchFamily="34" charset="0"/>
                <a:ea typeface="Cambria" pitchFamily="34" charset="-122"/>
                <a:cs typeface="Cambria" pitchFamily="34" charset="-120"/>
              </a:rPr>
              <a:t>Repeticiones Cortas en Tándem</a:t>
            </a:r>
            <a:endParaRPr lang="en-US" sz="2800" dirty="0"/>
          </a:p>
        </p:txBody>
      </p:sp>
      <p:sp>
        <p:nvSpPr>
          <p:cNvPr id="29" name="Text 27"/>
          <p:cNvSpPr txBox="1"/>
          <p:nvPr/>
        </p:nvSpPr>
        <p:spPr>
          <a:xfrm>
            <a:off x="457200" y="3794760"/>
            <a:ext cx="8229600" cy="32004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Integrantes: </a:t>
            </a:r>
            <a:pPr indent="0" marL="0">
              <a:buNone/>
            </a:pPr>
            <a:r>
              <a:rPr lang="en-US" sz="1600" dirty="0">
                <a:solidFill>
                  <a:srgbClr val="D5DCE6"/>
                </a:solidFill>
                <a:latin typeface="Calibri" pitchFamily="34" charset="0"/>
                <a:ea typeface="Calibri" pitchFamily="34" charset="-122"/>
                <a:cs typeface="Calibri" pitchFamily="34" charset="-120"/>
              </a:rPr>
              <a:t>Jorge  ·  Raquel  ·  Misael  ·  Amet</a:t>
            </a:r>
            <a:endParaRPr lang="en-US" sz="1600" dirty="0"/>
          </a:p>
        </p:txBody>
      </p:sp>
      <p:sp>
        <p:nvSpPr>
          <p:cNvPr id="30" name="Text 28"/>
          <p:cNvSpPr txBox="1"/>
          <p:nvPr/>
        </p:nvSpPr>
        <p:spPr>
          <a:xfrm>
            <a:off x="457200" y="4206240"/>
            <a:ext cx="8229600" cy="274320"/>
          </a:xfrm>
          <a:prstGeom prst="rect">
            <a:avLst/>
          </a:prstGeom>
          <a:noFill/>
          <a:ln/>
        </p:spPr>
        <p:txBody>
          <a:bodyPr wrap="square" lIns="0" tIns="0" rIns="0" bIns="0" rtlCol="0" anchor="ctr"/>
          <a:lstStyle/>
          <a:p>
            <a:pPr indent="0" marL="0">
              <a:buNone/>
            </a:pPr>
            <a:r>
              <a:rPr lang="en-US" sz="1100" dirty="0">
                <a:solidFill>
                  <a:srgbClr val="9AA6B6"/>
                </a:solidFill>
                <a:latin typeface="Calibri" pitchFamily="34" charset="0"/>
                <a:ea typeface="Calibri" pitchFamily="34" charset="-122"/>
                <a:cs typeface="Calibri" pitchFamily="34" charset="-120"/>
              </a:rPr>
              <a:t>Cap. 14 “Biotecnología” — Biología: La vida en la Tierra (Pearson, 10.ª ed.)</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74320"/>
          </a:xfrm>
          <a:prstGeom prst="rect">
            <a:avLst/>
          </a:prstGeom>
          <a:noFill/>
          <a:ln/>
        </p:spPr>
        <p:txBody>
          <a:bodyPr wrap="square" lIns="0" tIns="0" rIns="0" bIns="0" rtlCol="0" anchor="ctr"/>
          <a:lstStyle/>
          <a:p>
            <a:pPr indent="0" marL="0">
              <a:buNone/>
            </a:pPr>
            <a:r>
              <a:rPr lang="en-US" sz="1100" b="1" spc="200" kern="0" dirty="0">
                <a:solidFill>
                  <a:srgbClr val="5B6573"/>
                </a:solidFill>
                <a:latin typeface="Calibri" pitchFamily="34" charset="0"/>
                <a:ea typeface="Calibri" pitchFamily="34" charset="-122"/>
                <a:cs typeface="Calibri" pitchFamily="34" charset="-120"/>
              </a:rPr>
              <a:t>1 · CONCEPTO</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ctr"/>
          <a:lstStyle/>
          <a:p>
            <a:pPr indent="0" marL="0">
              <a:buNone/>
            </a:pPr>
            <a:r>
              <a:rPr lang="en-US" sz="3200" b="1" dirty="0">
                <a:solidFill>
                  <a:srgbClr val="0E1B2C"/>
                </a:solidFill>
                <a:latin typeface="Cambria" pitchFamily="34" charset="0"/>
                <a:ea typeface="Cambria" pitchFamily="34" charset="-122"/>
                <a:cs typeface="Cambria" pitchFamily="34" charset="-120"/>
              </a:rPr>
              <a:t>¿Qué son los STR?</a:t>
            </a:r>
            <a:endParaRPr lang="en-US" sz="3200" dirty="0"/>
          </a:p>
        </p:txBody>
      </p:sp>
      <p:sp>
        <p:nvSpPr>
          <p:cNvPr id="4" name="Text 2"/>
          <p:cNvSpPr txBox="1"/>
          <p:nvPr/>
        </p:nvSpPr>
        <p:spPr>
          <a:xfrm>
            <a:off x="457200" y="1371600"/>
            <a:ext cx="3931920" cy="31089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1F2A37"/>
                </a:solidFill>
                <a:latin typeface="Calibri" pitchFamily="34" charset="0"/>
                <a:ea typeface="Calibri" pitchFamily="34" charset="-122"/>
                <a:cs typeface="Calibri" pitchFamily="34" charset="-120"/>
              </a:rPr>
              <a:t>Secuencias cortas de ADN (2 a 6 pares de bases) que se repiten una tras otra: en tándem.</a:t>
            </a:r>
            <a:endParaRPr lang="en-US" sz="1500" dirty="0"/>
          </a:p>
          <a:p>
            <a:pPr marL="342900" indent="-342900">
              <a:spcAft>
                <a:spcPts val="1000"/>
              </a:spcAft>
              <a:buSzPct val="100000"/>
              <a:buChar char="•"/>
            </a:pPr>
            <a:r>
              <a:rPr lang="en-US" sz="1500" dirty="0">
                <a:solidFill>
                  <a:srgbClr val="1F2A37"/>
                </a:solidFill>
                <a:latin typeface="Calibri" pitchFamily="34" charset="0"/>
                <a:ea typeface="Calibri" pitchFamily="34" charset="-122"/>
                <a:cs typeface="Calibri" pitchFamily="34" charset="-120"/>
              </a:rPr>
              <a:t>Están sobre todo en regiones no codificantes del genoma.</a:t>
            </a:r>
            <a:endParaRPr lang="en-US" sz="1500" dirty="0"/>
          </a:p>
          <a:p>
            <a:pPr marL="342900" indent="-342900">
              <a:spcAft>
                <a:spcPts val="1000"/>
              </a:spcAft>
              <a:buSzPct val="100000"/>
              <a:buChar char="•"/>
            </a:pPr>
            <a:r>
              <a:rPr lang="en-US" sz="1500" dirty="0">
                <a:solidFill>
                  <a:srgbClr val="1F2A37"/>
                </a:solidFill>
                <a:latin typeface="Calibri" pitchFamily="34" charset="0"/>
                <a:ea typeface="Calibri" pitchFamily="34" charset="-122"/>
                <a:cs typeface="Calibri" pitchFamily="34" charset="-120"/>
              </a:rPr>
              <a:t>Todos tenemos los mismos loci STR, pero el número de repeticiones cambia entre personas.</a:t>
            </a:r>
            <a:endParaRPr lang="en-US" sz="1500" dirty="0"/>
          </a:p>
          <a:p>
            <a:pPr marL="342900" indent="-342900">
              <a:spcAft>
                <a:spcPts val="1000"/>
              </a:spcAft>
              <a:buSzPct val="100000"/>
              <a:buChar char="•"/>
            </a:pPr>
            <a:r>
              <a:rPr lang="en-US" sz="1500" dirty="0">
                <a:solidFill>
                  <a:srgbClr val="1F2A37"/>
                </a:solidFill>
                <a:latin typeface="Calibri" pitchFamily="34" charset="0"/>
                <a:ea typeface="Calibri" pitchFamily="34" charset="-122"/>
                <a:cs typeface="Calibri" pitchFamily="34" charset="-120"/>
              </a:rPr>
              <a:t>Heredamos un alelo de la madre y otro del padre: dos valores por locus.</a:t>
            </a:r>
            <a:endParaRPr lang="en-US" sz="1500" dirty="0"/>
          </a:p>
        </p:txBody>
      </p:sp>
      <p:sp>
        <p:nvSpPr>
          <p:cNvPr id="5" name="Shape 3"/>
          <p:cNvSpPr/>
          <p:nvPr/>
        </p:nvSpPr>
        <p:spPr>
          <a:xfrm>
            <a:off x="4754880" y="1325880"/>
            <a:ext cx="3931920" cy="3154680"/>
          </a:xfrm>
          <a:prstGeom prst="roundRect">
            <a:avLst>
              <a:gd name="adj" fmla="val 3478"/>
            </a:avLst>
          </a:prstGeom>
          <a:solidFill>
            <a:srgbClr val="FFFFFF"/>
          </a:solidFill>
          <a:ln w="12700">
            <a:solidFill>
              <a:srgbClr val="E1E6EC"/>
            </a:solidFill>
            <a:prstDash val="solid"/>
          </a:ln>
          <a:effectLst>
            <a:outerShdw sx="100000" sy="100000" kx="0" ky="0" algn="bl" rotWithShape="0" blurRad="76200" dist="25400" dir="5400000">
              <a:srgbClr val="000000">
                <a:alpha val="12000"/>
              </a:srgbClr>
            </a:outerShdw>
          </a:effectLst>
        </p:spPr>
      </p:sp>
      <p:sp>
        <p:nvSpPr>
          <p:cNvPr id="6" name="Text 4"/>
          <p:cNvSpPr txBox="1"/>
          <p:nvPr/>
        </p:nvSpPr>
        <p:spPr>
          <a:xfrm>
            <a:off x="4983480" y="1463040"/>
            <a:ext cx="3474720" cy="320040"/>
          </a:xfrm>
          <a:prstGeom prst="rect">
            <a:avLst/>
          </a:prstGeom>
          <a:noFill/>
          <a:ln/>
        </p:spPr>
        <p:txBody>
          <a:bodyPr wrap="square" lIns="0" tIns="0" rIns="0" bIns="0" rtlCol="0" anchor="ctr"/>
          <a:lstStyle/>
          <a:p>
            <a:pPr indent="0" marL="0">
              <a:buNone/>
            </a:pPr>
            <a:r>
              <a:rPr lang="en-US" sz="1300" b="1" dirty="0">
                <a:solidFill>
                  <a:srgbClr val="0E1B2C"/>
                </a:solidFill>
                <a:latin typeface="Calibri" pitchFamily="34" charset="0"/>
                <a:ea typeface="Calibri" pitchFamily="34" charset="-122"/>
                <a:cs typeface="Calibri" pitchFamily="34" charset="-120"/>
              </a:rPr>
              <a:t>Mismo locus, distinto número de repeticiones</a:t>
            </a:r>
            <a:endParaRPr lang="en-US" sz="1300" dirty="0"/>
          </a:p>
        </p:txBody>
      </p:sp>
      <p:sp>
        <p:nvSpPr>
          <p:cNvPr id="7" name="Text 5"/>
          <p:cNvSpPr txBox="1"/>
          <p:nvPr/>
        </p:nvSpPr>
        <p:spPr>
          <a:xfrm>
            <a:off x="4983480" y="2148840"/>
            <a:ext cx="3474720" cy="274320"/>
          </a:xfrm>
          <a:prstGeom prst="rect">
            <a:avLst/>
          </a:prstGeom>
          <a:noFill/>
          <a:ln/>
        </p:spPr>
        <p:txBody>
          <a:bodyPr wrap="square" lIns="0" tIns="0" rIns="0" bIns="0" rtlCol="0" anchor="ctr"/>
          <a:lstStyle/>
          <a:p>
            <a:pPr indent="0" marL="0">
              <a:buNone/>
            </a:pPr>
            <a:r>
              <a:rPr lang="en-US" sz="1200" dirty="0">
                <a:solidFill>
                  <a:srgbClr val="5B6573"/>
                </a:solidFill>
                <a:latin typeface="Calibri" pitchFamily="34" charset="0"/>
                <a:ea typeface="Calibri" pitchFamily="34" charset="-122"/>
                <a:cs typeface="Calibri" pitchFamily="34" charset="-120"/>
              </a:rPr>
              <a:t>Persona A — 5 repeticiones</a:t>
            </a:r>
            <a:endParaRPr lang="en-US" sz="1200" dirty="0"/>
          </a:p>
        </p:txBody>
      </p:sp>
      <p:sp>
        <p:nvSpPr>
          <p:cNvPr id="8" name="Shape 6"/>
          <p:cNvSpPr/>
          <p:nvPr/>
        </p:nvSpPr>
        <p:spPr>
          <a:xfrm>
            <a:off x="4983480" y="2606040"/>
            <a:ext cx="274320" cy="91440"/>
          </a:xfrm>
          <a:prstGeom prst="rect">
            <a:avLst/>
          </a:prstGeom>
          <a:solidFill>
            <a:srgbClr val="C9D1DB"/>
          </a:solidFill>
          <a:ln/>
        </p:spPr>
      </p:sp>
      <p:sp>
        <p:nvSpPr>
          <p:cNvPr id="9" name="Shape 7"/>
          <p:cNvSpPr/>
          <p:nvPr/>
        </p:nvSpPr>
        <p:spPr>
          <a:xfrm>
            <a:off x="5303520" y="2496312"/>
            <a:ext cx="347472" cy="310896"/>
          </a:xfrm>
          <a:prstGeom prst="roundRect">
            <a:avLst>
              <a:gd name="adj" fmla="val 17647"/>
            </a:avLst>
          </a:prstGeom>
          <a:solidFill>
            <a:srgbClr val="14B8A6"/>
          </a:solidFill>
          <a:ln/>
        </p:spPr>
      </p:sp>
      <p:sp>
        <p:nvSpPr>
          <p:cNvPr id="10" name="Text 8"/>
          <p:cNvSpPr txBox="1"/>
          <p:nvPr/>
        </p:nvSpPr>
        <p:spPr>
          <a:xfrm>
            <a:off x="5303520" y="2496312"/>
            <a:ext cx="347472" cy="31089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AGAT</a:t>
            </a:r>
            <a:endParaRPr lang="en-US" sz="700" dirty="0"/>
          </a:p>
        </p:txBody>
      </p:sp>
      <p:sp>
        <p:nvSpPr>
          <p:cNvPr id="11" name="Shape 9"/>
          <p:cNvSpPr/>
          <p:nvPr/>
        </p:nvSpPr>
        <p:spPr>
          <a:xfrm>
            <a:off x="5687568" y="2496312"/>
            <a:ext cx="347472" cy="310896"/>
          </a:xfrm>
          <a:prstGeom prst="roundRect">
            <a:avLst>
              <a:gd name="adj" fmla="val 17647"/>
            </a:avLst>
          </a:prstGeom>
          <a:solidFill>
            <a:srgbClr val="14B8A6"/>
          </a:solidFill>
          <a:ln/>
        </p:spPr>
      </p:sp>
      <p:sp>
        <p:nvSpPr>
          <p:cNvPr id="12" name="Text 10"/>
          <p:cNvSpPr txBox="1"/>
          <p:nvPr/>
        </p:nvSpPr>
        <p:spPr>
          <a:xfrm>
            <a:off x="5687568" y="2496312"/>
            <a:ext cx="347472" cy="31089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AGAT</a:t>
            </a:r>
            <a:endParaRPr lang="en-US" sz="700" dirty="0"/>
          </a:p>
        </p:txBody>
      </p:sp>
      <p:sp>
        <p:nvSpPr>
          <p:cNvPr id="13" name="Shape 11"/>
          <p:cNvSpPr/>
          <p:nvPr/>
        </p:nvSpPr>
        <p:spPr>
          <a:xfrm>
            <a:off x="6071616" y="2496312"/>
            <a:ext cx="347472" cy="310896"/>
          </a:xfrm>
          <a:prstGeom prst="roundRect">
            <a:avLst>
              <a:gd name="adj" fmla="val 17647"/>
            </a:avLst>
          </a:prstGeom>
          <a:solidFill>
            <a:srgbClr val="14B8A6"/>
          </a:solidFill>
          <a:ln/>
        </p:spPr>
      </p:sp>
      <p:sp>
        <p:nvSpPr>
          <p:cNvPr id="14" name="Text 12"/>
          <p:cNvSpPr txBox="1"/>
          <p:nvPr/>
        </p:nvSpPr>
        <p:spPr>
          <a:xfrm>
            <a:off x="6071616" y="2496312"/>
            <a:ext cx="347472" cy="31089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AGAT</a:t>
            </a:r>
            <a:endParaRPr lang="en-US" sz="700" dirty="0"/>
          </a:p>
        </p:txBody>
      </p:sp>
      <p:sp>
        <p:nvSpPr>
          <p:cNvPr id="15" name="Shape 13"/>
          <p:cNvSpPr/>
          <p:nvPr/>
        </p:nvSpPr>
        <p:spPr>
          <a:xfrm>
            <a:off x="6455664" y="2496312"/>
            <a:ext cx="347472" cy="310896"/>
          </a:xfrm>
          <a:prstGeom prst="roundRect">
            <a:avLst>
              <a:gd name="adj" fmla="val 17647"/>
            </a:avLst>
          </a:prstGeom>
          <a:solidFill>
            <a:srgbClr val="14B8A6"/>
          </a:solidFill>
          <a:ln/>
        </p:spPr>
      </p:sp>
      <p:sp>
        <p:nvSpPr>
          <p:cNvPr id="16" name="Text 14"/>
          <p:cNvSpPr txBox="1"/>
          <p:nvPr/>
        </p:nvSpPr>
        <p:spPr>
          <a:xfrm>
            <a:off x="6455664" y="2496312"/>
            <a:ext cx="347472" cy="31089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AGAT</a:t>
            </a:r>
            <a:endParaRPr lang="en-US" sz="700" dirty="0"/>
          </a:p>
        </p:txBody>
      </p:sp>
      <p:sp>
        <p:nvSpPr>
          <p:cNvPr id="17" name="Shape 15"/>
          <p:cNvSpPr/>
          <p:nvPr/>
        </p:nvSpPr>
        <p:spPr>
          <a:xfrm>
            <a:off x="6839712" y="2496312"/>
            <a:ext cx="347472" cy="310896"/>
          </a:xfrm>
          <a:prstGeom prst="roundRect">
            <a:avLst>
              <a:gd name="adj" fmla="val 17647"/>
            </a:avLst>
          </a:prstGeom>
          <a:solidFill>
            <a:srgbClr val="14B8A6"/>
          </a:solidFill>
          <a:ln/>
        </p:spPr>
      </p:sp>
      <p:sp>
        <p:nvSpPr>
          <p:cNvPr id="18" name="Text 16"/>
          <p:cNvSpPr txBox="1"/>
          <p:nvPr/>
        </p:nvSpPr>
        <p:spPr>
          <a:xfrm>
            <a:off x="6839712" y="2496312"/>
            <a:ext cx="347472" cy="31089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AGAT</a:t>
            </a:r>
            <a:endParaRPr lang="en-US" sz="700" dirty="0"/>
          </a:p>
        </p:txBody>
      </p:sp>
      <p:sp>
        <p:nvSpPr>
          <p:cNvPr id="19" name="Shape 17"/>
          <p:cNvSpPr/>
          <p:nvPr/>
        </p:nvSpPr>
        <p:spPr>
          <a:xfrm>
            <a:off x="7232904" y="2606040"/>
            <a:ext cx="274320" cy="91440"/>
          </a:xfrm>
          <a:prstGeom prst="rect">
            <a:avLst/>
          </a:prstGeom>
          <a:solidFill>
            <a:srgbClr val="C9D1DB"/>
          </a:solidFill>
          <a:ln/>
        </p:spPr>
      </p:sp>
      <p:sp>
        <p:nvSpPr>
          <p:cNvPr id="20" name="Text 18"/>
          <p:cNvSpPr txBox="1"/>
          <p:nvPr/>
        </p:nvSpPr>
        <p:spPr>
          <a:xfrm>
            <a:off x="4983480" y="3246120"/>
            <a:ext cx="3474720" cy="274320"/>
          </a:xfrm>
          <a:prstGeom prst="rect">
            <a:avLst/>
          </a:prstGeom>
          <a:noFill/>
          <a:ln/>
        </p:spPr>
        <p:txBody>
          <a:bodyPr wrap="square" lIns="0" tIns="0" rIns="0" bIns="0" rtlCol="0" anchor="ctr"/>
          <a:lstStyle/>
          <a:p>
            <a:pPr indent="0" marL="0">
              <a:buNone/>
            </a:pPr>
            <a:r>
              <a:rPr lang="en-US" sz="1200" dirty="0">
                <a:solidFill>
                  <a:srgbClr val="5B6573"/>
                </a:solidFill>
                <a:latin typeface="Calibri" pitchFamily="34" charset="0"/>
                <a:ea typeface="Calibri" pitchFamily="34" charset="-122"/>
                <a:cs typeface="Calibri" pitchFamily="34" charset="-120"/>
              </a:rPr>
              <a:t>Persona B — 8 repeticiones</a:t>
            </a:r>
            <a:endParaRPr lang="en-US" sz="1200" dirty="0"/>
          </a:p>
        </p:txBody>
      </p:sp>
      <p:sp>
        <p:nvSpPr>
          <p:cNvPr id="21" name="Shape 19"/>
          <p:cNvSpPr/>
          <p:nvPr/>
        </p:nvSpPr>
        <p:spPr>
          <a:xfrm>
            <a:off x="4983480" y="3703320"/>
            <a:ext cx="274320" cy="91440"/>
          </a:xfrm>
          <a:prstGeom prst="rect">
            <a:avLst/>
          </a:prstGeom>
          <a:solidFill>
            <a:srgbClr val="C9D1DB"/>
          </a:solidFill>
          <a:ln/>
        </p:spPr>
      </p:sp>
      <p:sp>
        <p:nvSpPr>
          <p:cNvPr id="22" name="Shape 20"/>
          <p:cNvSpPr/>
          <p:nvPr/>
        </p:nvSpPr>
        <p:spPr>
          <a:xfrm>
            <a:off x="5303520" y="3593592"/>
            <a:ext cx="347472" cy="310896"/>
          </a:xfrm>
          <a:prstGeom prst="roundRect">
            <a:avLst>
              <a:gd name="adj" fmla="val 17647"/>
            </a:avLst>
          </a:prstGeom>
          <a:solidFill>
            <a:srgbClr val="E4407B"/>
          </a:solidFill>
          <a:ln/>
        </p:spPr>
      </p:sp>
      <p:sp>
        <p:nvSpPr>
          <p:cNvPr id="23" name="Text 21"/>
          <p:cNvSpPr txBox="1"/>
          <p:nvPr/>
        </p:nvSpPr>
        <p:spPr>
          <a:xfrm>
            <a:off x="5303520" y="3593592"/>
            <a:ext cx="347472" cy="31089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AGAT</a:t>
            </a:r>
            <a:endParaRPr lang="en-US" sz="700" dirty="0"/>
          </a:p>
        </p:txBody>
      </p:sp>
      <p:sp>
        <p:nvSpPr>
          <p:cNvPr id="24" name="Shape 22"/>
          <p:cNvSpPr/>
          <p:nvPr/>
        </p:nvSpPr>
        <p:spPr>
          <a:xfrm>
            <a:off x="5687568" y="3593592"/>
            <a:ext cx="347472" cy="310896"/>
          </a:xfrm>
          <a:prstGeom prst="roundRect">
            <a:avLst>
              <a:gd name="adj" fmla="val 17647"/>
            </a:avLst>
          </a:prstGeom>
          <a:solidFill>
            <a:srgbClr val="E4407B"/>
          </a:solidFill>
          <a:ln/>
        </p:spPr>
      </p:sp>
      <p:sp>
        <p:nvSpPr>
          <p:cNvPr id="25" name="Text 23"/>
          <p:cNvSpPr txBox="1"/>
          <p:nvPr/>
        </p:nvSpPr>
        <p:spPr>
          <a:xfrm>
            <a:off x="5687568" y="3593592"/>
            <a:ext cx="347472" cy="31089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AGAT</a:t>
            </a:r>
            <a:endParaRPr lang="en-US" sz="700" dirty="0"/>
          </a:p>
        </p:txBody>
      </p:sp>
      <p:sp>
        <p:nvSpPr>
          <p:cNvPr id="26" name="Shape 24"/>
          <p:cNvSpPr/>
          <p:nvPr/>
        </p:nvSpPr>
        <p:spPr>
          <a:xfrm>
            <a:off x="6071616" y="3593592"/>
            <a:ext cx="347472" cy="310896"/>
          </a:xfrm>
          <a:prstGeom prst="roundRect">
            <a:avLst>
              <a:gd name="adj" fmla="val 17647"/>
            </a:avLst>
          </a:prstGeom>
          <a:solidFill>
            <a:srgbClr val="E4407B"/>
          </a:solidFill>
          <a:ln/>
        </p:spPr>
      </p:sp>
      <p:sp>
        <p:nvSpPr>
          <p:cNvPr id="27" name="Text 25"/>
          <p:cNvSpPr txBox="1"/>
          <p:nvPr/>
        </p:nvSpPr>
        <p:spPr>
          <a:xfrm>
            <a:off x="6071616" y="3593592"/>
            <a:ext cx="347472" cy="31089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AGAT</a:t>
            </a:r>
            <a:endParaRPr lang="en-US" sz="700" dirty="0"/>
          </a:p>
        </p:txBody>
      </p:sp>
      <p:sp>
        <p:nvSpPr>
          <p:cNvPr id="28" name="Shape 26"/>
          <p:cNvSpPr/>
          <p:nvPr/>
        </p:nvSpPr>
        <p:spPr>
          <a:xfrm>
            <a:off x="6455664" y="3593592"/>
            <a:ext cx="347472" cy="310896"/>
          </a:xfrm>
          <a:prstGeom prst="roundRect">
            <a:avLst>
              <a:gd name="adj" fmla="val 17647"/>
            </a:avLst>
          </a:prstGeom>
          <a:solidFill>
            <a:srgbClr val="E4407B"/>
          </a:solidFill>
          <a:ln/>
        </p:spPr>
      </p:sp>
      <p:sp>
        <p:nvSpPr>
          <p:cNvPr id="29" name="Text 27"/>
          <p:cNvSpPr txBox="1"/>
          <p:nvPr/>
        </p:nvSpPr>
        <p:spPr>
          <a:xfrm>
            <a:off x="6455664" y="3593592"/>
            <a:ext cx="347472" cy="31089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AGAT</a:t>
            </a:r>
            <a:endParaRPr lang="en-US" sz="700" dirty="0"/>
          </a:p>
        </p:txBody>
      </p:sp>
      <p:sp>
        <p:nvSpPr>
          <p:cNvPr id="30" name="Shape 28"/>
          <p:cNvSpPr/>
          <p:nvPr/>
        </p:nvSpPr>
        <p:spPr>
          <a:xfrm>
            <a:off x="6839712" y="3593592"/>
            <a:ext cx="347472" cy="310896"/>
          </a:xfrm>
          <a:prstGeom prst="roundRect">
            <a:avLst>
              <a:gd name="adj" fmla="val 17647"/>
            </a:avLst>
          </a:prstGeom>
          <a:solidFill>
            <a:srgbClr val="E4407B"/>
          </a:solidFill>
          <a:ln/>
        </p:spPr>
      </p:sp>
      <p:sp>
        <p:nvSpPr>
          <p:cNvPr id="31" name="Text 29"/>
          <p:cNvSpPr txBox="1"/>
          <p:nvPr/>
        </p:nvSpPr>
        <p:spPr>
          <a:xfrm>
            <a:off x="6839712" y="3593592"/>
            <a:ext cx="347472" cy="31089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AGAT</a:t>
            </a:r>
            <a:endParaRPr lang="en-US" sz="700" dirty="0"/>
          </a:p>
        </p:txBody>
      </p:sp>
      <p:sp>
        <p:nvSpPr>
          <p:cNvPr id="32" name="Shape 30"/>
          <p:cNvSpPr/>
          <p:nvPr/>
        </p:nvSpPr>
        <p:spPr>
          <a:xfrm>
            <a:off x="7223760" y="3593592"/>
            <a:ext cx="347472" cy="310896"/>
          </a:xfrm>
          <a:prstGeom prst="roundRect">
            <a:avLst>
              <a:gd name="adj" fmla="val 17647"/>
            </a:avLst>
          </a:prstGeom>
          <a:solidFill>
            <a:srgbClr val="E4407B"/>
          </a:solidFill>
          <a:ln/>
        </p:spPr>
      </p:sp>
      <p:sp>
        <p:nvSpPr>
          <p:cNvPr id="33" name="Text 31"/>
          <p:cNvSpPr txBox="1"/>
          <p:nvPr/>
        </p:nvSpPr>
        <p:spPr>
          <a:xfrm>
            <a:off x="7223760" y="3593592"/>
            <a:ext cx="347472" cy="31089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AGAT</a:t>
            </a:r>
            <a:endParaRPr lang="en-US" sz="700" dirty="0"/>
          </a:p>
        </p:txBody>
      </p:sp>
      <p:sp>
        <p:nvSpPr>
          <p:cNvPr id="34" name="Shape 32"/>
          <p:cNvSpPr/>
          <p:nvPr/>
        </p:nvSpPr>
        <p:spPr>
          <a:xfrm>
            <a:off x="7607808" y="3593592"/>
            <a:ext cx="347472" cy="310896"/>
          </a:xfrm>
          <a:prstGeom prst="roundRect">
            <a:avLst>
              <a:gd name="adj" fmla="val 17647"/>
            </a:avLst>
          </a:prstGeom>
          <a:solidFill>
            <a:srgbClr val="E4407B"/>
          </a:solidFill>
          <a:ln/>
        </p:spPr>
      </p:sp>
      <p:sp>
        <p:nvSpPr>
          <p:cNvPr id="35" name="Text 33"/>
          <p:cNvSpPr txBox="1"/>
          <p:nvPr/>
        </p:nvSpPr>
        <p:spPr>
          <a:xfrm>
            <a:off x="7607808" y="3593592"/>
            <a:ext cx="347472" cy="31089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AGAT</a:t>
            </a:r>
            <a:endParaRPr lang="en-US" sz="700" dirty="0"/>
          </a:p>
        </p:txBody>
      </p:sp>
      <p:sp>
        <p:nvSpPr>
          <p:cNvPr id="36" name="Shape 34"/>
          <p:cNvSpPr/>
          <p:nvPr/>
        </p:nvSpPr>
        <p:spPr>
          <a:xfrm>
            <a:off x="7991856" y="3593592"/>
            <a:ext cx="347472" cy="310896"/>
          </a:xfrm>
          <a:prstGeom prst="roundRect">
            <a:avLst>
              <a:gd name="adj" fmla="val 17647"/>
            </a:avLst>
          </a:prstGeom>
          <a:solidFill>
            <a:srgbClr val="E4407B"/>
          </a:solidFill>
          <a:ln/>
        </p:spPr>
      </p:sp>
      <p:sp>
        <p:nvSpPr>
          <p:cNvPr id="37" name="Text 35"/>
          <p:cNvSpPr txBox="1"/>
          <p:nvPr/>
        </p:nvSpPr>
        <p:spPr>
          <a:xfrm>
            <a:off x="7991856" y="3593592"/>
            <a:ext cx="347472" cy="310896"/>
          </a:xfrm>
          <a:prstGeom prst="rect">
            <a:avLst/>
          </a:prstGeom>
          <a:noFill/>
          <a:ln/>
        </p:spPr>
        <p:txBody>
          <a:bodyPr wrap="square" lIns="0" tIns="0" rIns="0" bIns="0" rtlCol="0" anchor="ctr"/>
          <a:lstStyle/>
          <a:p>
            <a:pPr algn="ctr" indent="0" marL="0">
              <a:buNone/>
            </a:pPr>
            <a:r>
              <a:rPr lang="en-US" sz="700" b="1" dirty="0">
                <a:solidFill>
                  <a:srgbClr val="FFFFFF"/>
                </a:solidFill>
                <a:latin typeface="Calibri" pitchFamily="34" charset="0"/>
                <a:ea typeface="Calibri" pitchFamily="34" charset="-122"/>
                <a:cs typeface="Calibri" pitchFamily="34" charset="-120"/>
              </a:rPr>
              <a:t>AGAT</a:t>
            </a:r>
            <a:endParaRPr lang="en-US" sz="700" dirty="0"/>
          </a:p>
        </p:txBody>
      </p:sp>
      <p:sp>
        <p:nvSpPr>
          <p:cNvPr id="38" name="Shape 36"/>
          <p:cNvSpPr/>
          <p:nvPr/>
        </p:nvSpPr>
        <p:spPr>
          <a:xfrm>
            <a:off x="8385048" y="3703320"/>
            <a:ext cx="274320" cy="91440"/>
          </a:xfrm>
          <a:prstGeom prst="rect">
            <a:avLst/>
          </a:prstGeom>
          <a:solidFill>
            <a:srgbClr val="C9D1DB"/>
          </a:solidFill>
          <a:ln/>
        </p:spPr>
      </p:sp>
      <p:sp>
        <p:nvSpPr>
          <p:cNvPr id="39" name="Text 37"/>
          <p:cNvSpPr txBox="1"/>
          <p:nvPr/>
        </p:nvSpPr>
        <p:spPr>
          <a:xfrm>
            <a:off x="4983480" y="3931920"/>
            <a:ext cx="3474720" cy="457200"/>
          </a:xfrm>
          <a:prstGeom prst="rect">
            <a:avLst/>
          </a:prstGeom>
          <a:noFill/>
          <a:ln/>
        </p:spPr>
        <p:txBody>
          <a:bodyPr wrap="square" lIns="0" tIns="0" rIns="0" bIns="0" rtlCol="0" anchor="ctr"/>
          <a:lstStyle/>
          <a:p>
            <a:pPr indent="0" marL="0">
              <a:buNone/>
            </a:pPr>
            <a:r>
              <a:rPr lang="en-US" sz="1050" i="1" dirty="0">
                <a:solidFill>
                  <a:srgbClr val="5B6573"/>
                </a:solidFill>
                <a:latin typeface="Calibri" pitchFamily="34" charset="0"/>
                <a:ea typeface="Calibri" pitchFamily="34" charset="-122"/>
                <a:cs typeface="Calibri" pitchFamily="34" charset="-120"/>
              </a:rPr>
              <a:t>Las zonas grises son ADN vecino, igual en todos; lo que cambia es cuántas veces se repite la unidad.</a:t>
            </a:r>
            <a:endParaRPr lang="en-US" sz="1050" dirty="0"/>
          </a:p>
        </p:txBody>
      </p:sp>
      <p:sp>
        <p:nvSpPr>
          <p:cNvPr id="40" name="Text 38"/>
          <p:cNvSpPr txBox="1"/>
          <p:nvPr/>
        </p:nvSpPr>
        <p:spPr>
          <a:xfrm>
            <a:off x="4937760" y="4754880"/>
            <a:ext cx="3931920" cy="274320"/>
          </a:xfrm>
          <a:prstGeom prst="rect">
            <a:avLst/>
          </a:prstGeom>
          <a:noFill/>
          <a:ln/>
        </p:spPr>
        <p:txBody>
          <a:bodyPr wrap="square" lIns="0" tIns="0" rIns="0" bIns="0" rtlCol="0" anchor="ctr"/>
          <a:lstStyle/>
          <a:p>
            <a:pPr algn="r" indent="0" marL="0">
              <a:buNone/>
            </a:pPr>
            <a:r>
              <a:rPr lang="en-US" sz="1100" b="1" dirty="0">
                <a:solidFill>
                  <a:srgbClr val="1F2A37"/>
                </a:solidFill>
                <a:latin typeface="Calibri" pitchFamily="34" charset="0"/>
                <a:ea typeface="Calibri" pitchFamily="34" charset="-122"/>
                <a:cs typeface="Calibri" pitchFamily="34" charset="-120"/>
              </a:rPr>
              <a:t>Jorge [Apellidos]</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74320"/>
          </a:xfrm>
          <a:prstGeom prst="rect">
            <a:avLst/>
          </a:prstGeom>
          <a:noFill/>
          <a:ln/>
        </p:spPr>
        <p:txBody>
          <a:bodyPr wrap="square" lIns="0" tIns="0" rIns="0" bIns="0" rtlCol="0" anchor="ctr"/>
          <a:lstStyle/>
          <a:p>
            <a:pPr indent="0" marL="0">
              <a:buNone/>
            </a:pPr>
            <a:r>
              <a:rPr lang="en-US" sz="1100" b="1" spc="200" kern="0" dirty="0">
                <a:solidFill>
                  <a:srgbClr val="5B6573"/>
                </a:solidFill>
                <a:latin typeface="Calibri" pitchFamily="34" charset="0"/>
                <a:ea typeface="Calibri" pitchFamily="34" charset="-122"/>
                <a:cs typeface="Calibri" pitchFamily="34" charset="-120"/>
              </a:rPr>
              <a:t>2 · PROCESO</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ctr"/>
          <a:lstStyle/>
          <a:p>
            <a:pPr indent="0" marL="0">
              <a:buNone/>
            </a:pPr>
            <a:r>
              <a:rPr lang="en-US" sz="3200" b="1" dirty="0">
                <a:solidFill>
                  <a:srgbClr val="0E1B2C"/>
                </a:solidFill>
                <a:latin typeface="Cambria" pitchFamily="34" charset="0"/>
                <a:ea typeface="Cambria" pitchFamily="34" charset="-122"/>
                <a:cs typeface="Cambria" pitchFamily="34" charset="-120"/>
              </a:rPr>
              <a:t>El proceso paso a paso</a:t>
            </a:r>
            <a:endParaRPr lang="en-US" sz="3200" dirty="0"/>
          </a:p>
        </p:txBody>
      </p:sp>
      <p:sp>
        <p:nvSpPr>
          <p:cNvPr id="4" name="Shape 2"/>
          <p:cNvSpPr/>
          <p:nvPr/>
        </p:nvSpPr>
        <p:spPr>
          <a:xfrm>
            <a:off x="1645920" y="1783080"/>
            <a:ext cx="804672" cy="0"/>
          </a:xfrm>
          <a:prstGeom prst="line">
            <a:avLst/>
          </a:prstGeom>
          <a:noFill/>
          <a:ln w="19050">
            <a:solidFill>
              <a:srgbClr val="AEB8C4"/>
            </a:solidFill>
            <a:prstDash val="dash"/>
            <a:tailEnd type="triangle"/>
          </a:ln>
        </p:spPr>
      </p:sp>
      <p:sp>
        <p:nvSpPr>
          <p:cNvPr id="5" name="Shape 3"/>
          <p:cNvSpPr/>
          <p:nvPr/>
        </p:nvSpPr>
        <p:spPr>
          <a:xfrm>
            <a:off x="841248" y="1417320"/>
            <a:ext cx="731520" cy="731520"/>
          </a:xfrm>
          <a:prstGeom prst="ellipse">
            <a:avLst/>
          </a:prstGeom>
          <a:solidFill>
            <a:srgbClr val="14B8A6"/>
          </a:solidFill>
          <a:ln/>
        </p:spPr>
      </p:sp>
      <p:pic>
        <p:nvPicPr>
          <p:cNvPr id="6" name="Image 0" descr="preencoded.png">    </p:cNvPr>
          <p:cNvPicPr>
            <a:picLocks noChangeAspect="1"/>
          </p:cNvPicPr>
          <p:nvPr/>
        </p:nvPicPr>
        <p:blipFill>
          <a:blip r:embed="rId1"/>
          <a:stretch>
            <a:fillRect/>
          </a:stretch>
        </p:blipFill>
        <p:spPr>
          <a:xfrm>
            <a:off x="1042416" y="1618488"/>
            <a:ext cx="329184" cy="329184"/>
          </a:xfrm>
          <a:prstGeom prst="rect">
            <a:avLst/>
          </a:prstGeom>
        </p:spPr>
      </p:pic>
      <p:sp>
        <p:nvSpPr>
          <p:cNvPr id="7" name="Text 4"/>
          <p:cNvSpPr txBox="1"/>
          <p:nvPr/>
        </p:nvSpPr>
        <p:spPr>
          <a:xfrm>
            <a:off x="457200" y="2258568"/>
            <a:ext cx="1499616" cy="274320"/>
          </a:xfrm>
          <a:prstGeom prst="rect">
            <a:avLst/>
          </a:prstGeom>
          <a:noFill/>
          <a:ln/>
        </p:spPr>
        <p:txBody>
          <a:bodyPr wrap="square" lIns="0" tIns="0" rIns="0" bIns="0" rtlCol="0" anchor="ctr"/>
          <a:lstStyle/>
          <a:p>
            <a:pPr algn="ctr" indent="0" marL="0">
              <a:buNone/>
            </a:pPr>
            <a:r>
              <a:rPr lang="en-US" sz="1600" b="1" dirty="0">
                <a:solidFill>
                  <a:srgbClr val="14B8A6"/>
                </a:solidFill>
                <a:latin typeface="Cambria" pitchFamily="34" charset="0"/>
                <a:ea typeface="Cambria" pitchFamily="34" charset="-122"/>
                <a:cs typeface="Cambria" pitchFamily="34" charset="-120"/>
              </a:rPr>
              <a:t>1</a:t>
            </a:r>
            <a:endParaRPr lang="en-US" sz="1600" dirty="0"/>
          </a:p>
        </p:txBody>
      </p:sp>
      <p:sp>
        <p:nvSpPr>
          <p:cNvPr id="8" name="Text 5"/>
          <p:cNvSpPr txBox="1"/>
          <p:nvPr/>
        </p:nvSpPr>
        <p:spPr>
          <a:xfrm>
            <a:off x="457200" y="2532888"/>
            <a:ext cx="1499616" cy="292608"/>
          </a:xfrm>
          <a:prstGeom prst="rect">
            <a:avLst/>
          </a:prstGeom>
          <a:noFill/>
          <a:ln/>
        </p:spPr>
        <p:txBody>
          <a:bodyPr wrap="square" lIns="0" tIns="0" rIns="0" bIns="0" rtlCol="0" anchor="ctr"/>
          <a:lstStyle/>
          <a:p>
            <a:pPr algn="ctr" indent="0" marL="0">
              <a:buNone/>
            </a:pPr>
            <a:r>
              <a:rPr lang="en-US" sz="1350" b="1" dirty="0">
                <a:solidFill>
                  <a:srgbClr val="0E1B2C"/>
                </a:solidFill>
                <a:latin typeface="Calibri" pitchFamily="34" charset="0"/>
                <a:ea typeface="Calibri" pitchFamily="34" charset="-122"/>
                <a:cs typeface="Calibri" pitchFamily="34" charset="-120"/>
              </a:rPr>
              <a:t>Muestra</a:t>
            </a:r>
            <a:endParaRPr lang="en-US" sz="1350" dirty="0"/>
          </a:p>
        </p:txBody>
      </p:sp>
      <p:sp>
        <p:nvSpPr>
          <p:cNvPr id="9" name="Text 6"/>
          <p:cNvSpPr txBox="1"/>
          <p:nvPr/>
        </p:nvSpPr>
        <p:spPr>
          <a:xfrm>
            <a:off x="457200" y="2843784"/>
            <a:ext cx="1499616" cy="685800"/>
          </a:xfrm>
          <a:prstGeom prst="rect">
            <a:avLst/>
          </a:prstGeom>
          <a:noFill/>
          <a:ln/>
        </p:spPr>
        <p:txBody>
          <a:bodyPr wrap="square" lIns="0" tIns="0" rIns="0" bIns="0" rtlCol="0" anchor="t"/>
          <a:lstStyle/>
          <a:p>
            <a:pPr algn="ctr" indent="0" marL="0">
              <a:buNone/>
            </a:pPr>
            <a:r>
              <a:rPr lang="en-US" sz="1100" dirty="0">
                <a:solidFill>
                  <a:srgbClr val="1F2A37"/>
                </a:solidFill>
                <a:latin typeface="Calibri" pitchFamily="34" charset="0"/>
                <a:ea typeface="Calibri" pitchFamily="34" charset="-122"/>
                <a:cs typeface="Calibri" pitchFamily="34" charset="-120"/>
              </a:rPr>
              <a:t>Sangre, saliva, cabello con raíz, semen o hueso.</a:t>
            </a:r>
            <a:endParaRPr lang="en-US" sz="1100" dirty="0"/>
          </a:p>
        </p:txBody>
      </p:sp>
      <p:sp>
        <p:nvSpPr>
          <p:cNvPr id="10" name="Shape 7"/>
          <p:cNvSpPr/>
          <p:nvPr/>
        </p:nvSpPr>
        <p:spPr>
          <a:xfrm>
            <a:off x="3328416" y="1783080"/>
            <a:ext cx="804672" cy="0"/>
          </a:xfrm>
          <a:prstGeom prst="line">
            <a:avLst/>
          </a:prstGeom>
          <a:noFill/>
          <a:ln w="19050">
            <a:solidFill>
              <a:srgbClr val="AEB8C4"/>
            </a:solidFill>
            <a:prstDash val="dash"/>
            <a:tailEnd type="triangle"/>
          </a:ln>
        </p:spPr>
      </p:sp>
      <p:sp>
        <p:nvSpPr>
          <p:cNvPr id="11" name="Shape 8"/>
          <p:cNvSpPr/>
          <p:nvPr/>
        </p:nvSpPr>
        <p:spPr>
          <a:xfrm>
            <a:off x="2523744" y="1417320"/>
            <a:ext cx="731520" cy="731520"/>
          </a:xfrm>
          <a:prstGeom prst="ellipse">
            <a:avLst/>
          </a:prstGeom>
          <a:solidFill>
            <a:srgbClr val="F6B93B"/>
          </a:solidFill>
          <a:ln/>
        </p:spPr>
      </p:sp>
      <p:pic>
        <p:nvPicPr>
          <p:cNvPr id="12" name="Image 1" descr="preencoded.png">    </p:cNvPr>
          <p:cNvPicPr>
            <a:picLocks noChangeAspect="1"/>
          </p:cNvPicPr>
          <p:nvPr/>
        </p:nvPicPr>
        <p:blipFill>
          <a:blip r:embed="rId2"/>
          <a:stretch>
            <a:fillRect/>
          </a:stretch>
        </p:blipFill>
        <p:spPr>
          <a:xfrm>
            <a:off x="2724912" y="1618488"/>
            <a:ext cx="329184" cy="329184"/>
          </a:xfrm>
          <a:prstGeom prst="rect">
            <a:avLst/>
          </a:prstGeom>
        </p:spPr>
      </p:pic>
      <p:sp>
        <p:nvSpPr>
          <p:cNvPr id="13" name="Text 9"/>
          <p:cNvSpPr txBox="1"/>
          <p:nvPr/>
        </p:nvSpPr>
        <p:spPr>
          <a:xfrm>
            <a:off x="2139696" y="2258568"/>
            <a:ext cx="1499616" cy="274320"/>
          </a:xfrm>
          <a:prstGeom prst="rect">
            <a:avLst/>
          </a:prstGeom>
          <a:noFill/>
          <a:ln/>
        </p:spPr>
        <p:txBody>
          <a:bodyPr wrap="square" lIns="0" tIns="0" rIns="0" bIns="0" rtlCol="0" anchor="ctr"/>
          <a:lstStyle/>
          <a:p>
            <a:pPr algn="ctr" indent="0" marL="0">
              <a:buNone/>
            </a:pPr>
            <a:r>
              <a:rPr lang="en-US" sz="1600" b="1" dirty="0">
                <a:solidFill>
                  <a:srgbClr val="F6B93B"/>
                </a:solidFill>
                <a:latin typeface="Cambria" pitchFamily="34" charset="0"/>
                <a:ea typeface="Cambria" pitchFamily="34" charset="-122"/>
                <a:cs typeface="Cambria" pitchFamily="34" charset="-120"/>
              </a:rPr>
              <a:t>2</a:t>
            </a:r>
            <a:endParaRPr lang="en-US" sz="1600" dirty="0"/>
          </a:p>
        </p:txBody>
      </p:sp>
      <p:sp>
        <p:nvSpPr>
          <p:cNvPr id="14" name="Text 10"/>
          <p:cNvSpPr txBox="1"/>
          <p:nvPr/>
        </p:nvSpPr>
        <p:spPr>
          <a:xfrm>
            <a:off x="2139696" y="2532888"/>
            <a:ext cx="1499616" cy="292608"/>
          </a:xfrm>
          <a:prstGeom prst="rect">
            <a:avLst/>
          </a:prstGeom>
          <a:noFill/>
          <a:ln/>
        </p:spPr>
        <p:txBody>
          <a:bodyPr wrap="square" lIns="0" tIns="0" rIns="0" bIns="0" rtlCol="0" anchor="ctr"/>
          <a:lstStyle/>
          <a:p>
            <a:pPr algn="ctr" indent="0" marL="0">
              <a:buNone/>
            </a:pPr>
            <a:r>
              <a:rPr lang="en-US" sz="1350" b="1" dirty="0">
                <a:solidFill>
                  <a:srgbClr val="0E1B2C"/>
                </a:solidFill>
                <a:latin typeface="Calibri" pitchFamily="34" charset="0"/>
                <a:ea typeface="Calibri" pitchFamily="34" charset="-122"/>
                <a:cs typeface="Calibri" pitchFamily="34" charset="-120"/>
              </a:rPr>
              <a:t>Extracción</a:t>
            </a:r>
            <a:endParaRPr lang="en-US" sz="1350" dirty="0"/>
          </a:p>
        </p:txBody>
      </p:sp>
      <p:sp>
        <p:nvSpPr>
          <p:cNvPr id="15" name="Text 11"/>
          <p:cNvSpPr txBox="1"/>
          <p:nvPr/>
        </p:nvSpPr>
        <p:spPr>
          <a:xfrm>
            <a:off x="2139696" y="2843784"/>
            <a:ext cx="1499616" cy="685800"/>
          </a:xfrm>
          <a:prstGeom prst="rect">
            <a:avLst/>
          </a:prstGeom>
          <a:noFill/>
          <a:ln/>
        </p:spPr>
        <p:txBody>
          <a:bodyPr wrap="square" lIns="0" tIns="0" rIns="0" bIns="0" rtlCol="0" anchor="t"/>
          <a:lstStyle/>
          <a:p>
            <a:pPr algn="ctr" indent="0" marL="0">
              <a:buNone/>
            </a:pPr>
            <a:r>
              <a:rPr lang="en-US" sz="1100" dirty="0">
                <a:solidFill>
                  <a:srgbClr val="1F2A37"/>
                </a:solidFill>
                <a:latin typeface="Calibri" pitchFamily="34" charset="0"/>
                <a:ea typeface="Calibri" pitchFamily="34" charset="-122"/>
                <a:cs typeface="Calibri" pitchFamily="34" charset="-120"/>
              </a:rPr>
              <a:t>Se rompen las células y se purifica el ADN.</a:t>
            </a:r>
            <a:endParaRPr lang="en-US" sz="1100" dirty="0"/>
          </a:p>
        </p:txBody>
      </p:sp>
      <p:sp>
        <p:nvSpPr>
          <p:cNvPr id="16" name="Shape 12"/>
          <p:cNvSpPr/>
          <p:nvPr/>
        </p:nvSpPr>
        <p:spPr>
          <a:xfrm>
            <a:off x="5010912" y="1783080"/>
            <a:ext cx="804672" cy="0"/>
          </a:xfrm>
          <a:prstGeom prst="line">
            <a:avLst/>
          </a:prstGeom>
          <a:noFill/>
          <a:ln w="19050">
            <a:solidFill>
              <a:srgbClr val="AEB8C4"/>
            </a:solidFill>
            <a:prstDash val="dash"/>
            <a:tailEnd type="triangle"/>
          </a:ln>
        </p:spPr>
      </p:sp>
      <p:sp>
        <p:nvSpPr>
          <p:cNvPr id="17" name="Shape 13"/>
          <p:cNvSpPr/>
          <p:nvPr/>
        </p:nvSpPr>
        <p:spPr>
          <a:xfrm>
            <a:off x="4206240" y="1417320"/>
            <a:ext cx="731520" cy="731520"/>
          </a:xfrm>
          <a:prstGeom prst="ellipse">
            <a:avLst/>
          </a:prstGeom>
          <a:solidFill>
            <a:srgbClr val="E4407B"/>
          </a:solidFill>
          <a:ln/>
        </p:spPr>
      </p:sp>
      <p:pic>
        <p:nvPicPr>
          <p:cNvPr id="18" name="Image 2" descr="preencoded.png">    </p:cNvPr>
          <p:cNvPicPr>
            <a:picLocks noChangeAspect="1"/>
          </p:cNvPicPr>
          <p:nvPr/>
        </p:nvPicPr>
        <p:blipFill>
          <a:blip r:embed="rId3"/>
          <a:stretch>
            <a:fillRect/>
          </a:stretch>
        </p:blipFill>
        <p:spPr>
          <a:xfrm>
            <a:off x="4407408" y="1618488"/>
            <a:ext cx="329184" cy="329184"/>
          </a:xfrm>
          <a:prstGeom prst="rect">
            <a:avLst/>
          </a:prstGeom>
        </p:spPr>
      </p:pic>
      <p:sp>
        <p:nvSpPr>
          <p:cNvPr id="19" name="Text 14"/>
          <p:cNvSpPr txBox="1"/>
          <p:nvPr/>
        </p:nvSpPr>
        <p:spPr>
          <a:xfrm>
            <a:off x="3822192" y="2258568"/>
            <a:ext cx="1499616" cy="274320"/>
          </a:xfrm>
          <a:prstGeom prst="rect">
            <a:avLst/>
          </a:prstGeom>
          <a:noFill/>
          <a:ln/>
        </p:spPr>
        <p:txBody>
          <a:bodyPr wrap="square" lIns="0" tIns="0" rIns="0" bIns="0" rtlCol="0" anchor="ctr"/>
          <a:lstStyle/>
          <a:p>
            <a:pPr algn="ctr" indent="0" marL="0">
              <a:buNone/>
            </a:pPr>
            <a:r>
              <a:rPr lang="en-US" sz="1600" b="1" dirty="0">
                <a:solidFill>
                  <a:srgbClr val="E4407B"/>
                </a:solidFill>
                <a:latin typeface="Cambria" pitchFamily="34" charset="0"/>
                <a:ea typeface="Cambria" pitchFamily="34" charset="-122"/>
                <a:cs typeface="Cambria" pitchFamily="34" charset="-120"/>
              </a:rPr>
              <a:t>3</a:t>
            </a:r>
            <a:endParaRPr lang="en-US" sz="1600" dirty="0"/>
          </a:p>
        </p:txBody>
      </p:sp>
      <p:sp>
        <p:nvSpPr>
          <p:cNvPr id="20" name="Text 15"/>
          <p:cNvSpPr txBox="1"/>
          <p:nvPr/>
        </p:nvSpPr>
        <p:spPr>
          <a:xfrm>
            <a:off x="3822192" y="2532888"/>
            <a:ext cx="1499616" cy="292608"/>
          </a:xfrm>
          <a:prstGeom prst="rect">
            <a:avLst/>
          </a:prstGeom>
          <a:noFill/>
          <a:ln/>
        </p:spPr>
        <p:txBody>
          <a:bodyPr wrap="square" lIns="0" tIns="0" rIns="0" bIns="0" rtlCol="0" anchor="ctr"/>
          <a:lstStyle/>
          <a:p>
            <a:pPr algn="ctr" indent="0" marL="0">
              <a:buNone/>
            </a:pPr>
            <a:r>
              <a:rPr lang="en-US" sz="1350" b="1" dirty="0">
                <a:solidFill>
                  <a:srgbClr val="0E1B2C"/>
                </a:solidFill>
                <a:latin typeface="Calibri" pitchFamily="34" charset="0"/>
                <a:ea typeface="Calibri" pitchFamily="34" charset="-122"/>
                <a:cs typeface="Calibri" pitchFamily="34" charset="-120"/>
              </a:rPr>
              <a:t>PCR multiplex</a:t>
            </a:r>
            <a:endParaRPr lang="en-US" sz="1350" dirty="0"/>
          </a:p>
        </p:txBody>
      </p:sp>
      <p:sp>
        <p:nvSpPr>
          <p:cNvPr id="21" name="Text 16"/>
          <p:cNvSpPr txBox="1"/>
          <p:nvPr/>
        </p:nvSpPr>
        <p:spPr>
          <a:xfrm>
            <a:off x="3822192" y="2843784"/>
            <a:ext cx="1499616" cy="685800"/>
          </a:xfrm>
          <a:prstGeom prst="rect">
            <a:avLst/>
          </a:prstGeom>
          <a:noFill/>
          <a:ln/>
        </p:spPr>
        <p:txBody>
          <a:bodyPr wrap="square" lIns="0" tIns="0" rIns="0" bIns="0" rtlCol="0" anchor="t"/>
          <a:lstStyle/>
          <a:p>
            <a:pPr algn="ctr" indent="0" marL="0">
              <a:buNone/>
            </a:pPr>
            <a:r>
              <a:rPr lang="en-US" sz="1100" dirty="0">
                <a:solidFill>
                  <a:srgbClr val="1F2A37"/>
                </a:solidFill>
                <a:latin typeface="Calibri" pitchFamily="34" charset="0"/>
                <a:ea typeface="Calibri" pitchFamily="34" charset="-122"/>
                <a:cs typeface="Calibri" pitchFamily="34" charset="-120"/>
              </a:rPr>
              <a:t>Primers fluorescentes copian muchos loci STR a la vez.</a:t>
            </a:r>
            <a:endParaRPr lang="en-US" sz="1100" dirty="0"/>
          </a:p>
        </p:txBody>
      </p:sp>
      <p:sp>
        <p:nvSpPr>
          <p:cNvPr id="22" name="Shape 17"/>
          <p:cNvSpPr/>
          <p:nvPr/>
        </p:nvSpPr>
        <p:spPr>
          <a:xfrm>
            <a:off x="6693408" y="1783080"/>
            <a:ext cx="804672" cy="0"/>
          </a:xfrm>
          <a:prstGeom prst="line">
            <a:avLst/>
          </a:prstGeom>
          <a:noFill/>
          <a:ln w="19050">
            <a:solidFill>
              <a:srgbClr val="AEB8C4"/>
            </a:solidFill>
            <a:prstDash val="dash"/>
            <a:tailEnd type="triangle"/>
          </a:ln>
        </p:spPr>
      </p:sp>
      <p:sp>
        <p:nvSpPr>
          <p:cNvPr id="23" name="Shape 18"/>
          <p:cNvSpPr/>
          <p:nvPr/>
        </p:nvSpPr>
        <p:spPr>
          <a:xfrm>
            <a:off x="5888736" y="1417320"/>
            <a:ext cx="731520" cy="731520"/>
          </a:xfrm>
          <a:prstGeom prst="ellipse">
            <a:avLst/>
          </a:prstGeom>
          <a:solidFill>
            <a:srgbClr val="6C83F5"/>
          </a:solidFill>
          <a:ln/>
        </p:spPr>
      </p:sp>
      <p:pic>
        <p:nvPicPr>
          <p:cNvPr id="24" name="Image 3" descr="preencoded.png">    </p:cNvPr>
          <p:cNvPicPr>
            <a:picLocks noChangeAspect="1"/>
          </p:cNvPicPr>
          <p:nvPr/>
        </p:nvPicPr>
        <p:blipFill>
          <a:blip r:embed="rId4"/>
          <a:stretch>
            <a:fillRect/>
          </a:stretch>
        </p:blipFill>
        <p:spPr>
          <a:xfrm>
            <a:off x="6089904" y="1618488"/>
            <a:ext cx="329184" cy="329184"/>
          </a:xfrm>
          <a:prstGeom prst="rect">
            <a:avLst/>
          </a:prstGeom>
        </p:spPr>
      </p:pic>
      <p:sp>
        <p:nvSpPr>
          <p:cNvPr id="25" name="Text 19"/>
          <p:cNvSpPr txBox="1"/>
          <p:nvPr/>
        </p:nvSpPr>
        <p:spPr>
          <a:xfrm>
            <a:off x="5504688" y="2258568"/>
            <a:ext cx="1499616" cy="274320"/>
          </a:xfrm>
          <a:prstGeom prst="rect">
            <a:avLst/>
          </a:prstGeom>
          <a:noFill/>
          <a:ln/>
        </p:spPr>
        <p:txBody>
          <a:bodyPr wrap="square" lIns="0" tIns="0" rIns="0" bIns="0" rtlCol="0" anchor="ctr"/>
          <a:lstStyle/>
          <a:p>
            <a:pPr algn="ctr" indent="0" marL="0">
              <a:buNone/>
            </a:pPr>
            <a:r>
              <a:rPr lang="en-US" sz="1600" b="1" dirty="0">
                <a:solidFill>
                  <a:srgbClr val="6C83F5"/>
                </a:solidFill>
                <a:latin typeface="Cambria" pitchFamily="34" charset="0"/>
                <a:ea typeface="Cambria" pitchFamily="34" charset="-122"/>
                <a:cs typeface="Cambria" pitchFamily="34" charset="-120"/>
              </a:rPr>
              <a:t>4</a:t>
            </a:r>
            <a:endParaRPr lang="en-US" sz="1600" dirty="0"/>
          </a:p>
        </p:txBody>
      </p:sp>
      <p:sp>
        <p:nvSpPr>
          <p:cNvPr id="26" name="Text 20"/>
          <p:cNvSpPr txBox="1"/>
          <p:nvPr/>
        </p:nvSpPr>
        <p:spPr>
          <a:xfrm>
            <a:off x="5504688" y="2532888"/>
            <a:ext cx="1499616" cy="292608"/>
          </a:xfrm>
          <a:prstGeom prst="rect">
            <a:avLst/>
          </a:prstGeom>
          <a:noFill/>
          <a:ln/>
        </p:spPr>
        <p:txBody>
          <a:bodyPr wrap="square" lIns="0" tIns="0" rIns="0" bIns="0" rtlCol="0" anchor="ctr"/>
          <a:lstStyle/>
          <a:p>
            <a:pPr algn="ctr" indent="0" marL="0">
              <a:buNone/>
            </a:pPr>
            <a:r>
              <a:rPr lang="en-US" sz="1350" b="1" dirty="0">
                <a:solidFill>
                  <a:srgbClr val="0E1B2C"/>
                </a:solidFill>
                <a:latin typeface="Calibri" pitchFamily="34" charset="0"/>
                <a:ea typeface="Calibri" pitchFamily="34" charset="-122"/>
                <a:cs typeface="Calibri" pitchFamily="34" charset="-120"/>
              </a:rPr>
              <a:t>Electroforesis</a:t>
            </a:r>
            <a:endParaRPr lang="en-US" sz="1350" dirty="0"/>
          </a:p>
        </p:txBody>
      </p:sp>
      <p:sp>
        <p:nvSpPr>
          <p:cNvPr id="27" name="Text 21"/>
          <p:cNvSpPr txBox="1"/>
          <p:nvPr/>
        </p:nvSpPr>
        <p:spPr>
          <a:xfrm>
            <a:off x="5504688" y="2843784"/>
            <a:ext cx="1499616" cy="685800"/>
          </a:xfrm>
          <a:prstGeom prst="rect">
            <a:avLst/>
          </a:prstGeom>
          <a:noFill/>
          <a:ln/>
        </p:spPr>
        <p:txBody>
          <a:bodyPr wrap="square" lIns="0" tIns="0" rIns="0" bIns="0" rtlCol="0" anchor="t"/>
          <a:lstStyle/>
          <a:p>
            <a:pPr algn="ctr" indent="0" marL="0">
              <a:buNone/>
            </a:pPr>
            <a:r>
              <a:rPr lang="en-US" sz="1100" dirty="0">
                <a:solidFill>
                  <a:srgbClr val="1F2A37"/>
                </a:solidFill>
                <a:latin typeface="Calibri" pitchFamily="34" charset="0"/>
                <a:ea typeface="Calibri" pitchFamily="34" charset="-122"/>
                <a:cs typeface="Calibri" pitchFamily="34" charset="-120"/>
              </a:rPr>
              <a:t>Los fragmentos se separan por tamaño en un capilar.</a:t>
            </a:r>
            <a:endParaRPr lang="en-US" sz="1100" dirty="0"/>
          </a:p>
        </p:txBody>
      </p:sp>
      <p:sp>
        <p:nvSpPr>
          <p:cNvPr id="28" name="Shape 22"/>
          <p:cNvSpPr/>
          <p:nvPr/>
        </p:nvSpPr>
        <p:spPr>
          <a:xfrm>
            <a:off x="7571232" y="1417320"/>
            <a:ext cx="731520" cy="731520"/>
          </a:xfrm>
          <a:prstGeom prst="ellipse">
            <a:avLst/>
          </a:prstGeom>
          <a:solidFill>
            <a:srgbClr val="0E1B2C"/>
          </a:solidFill>
          <a:ln/>
        </p:spPr>
      </p:sp>
      <p:pic>
        <p:nvPicPr>
          <p:cNvPr id="29" name="Image 4" descr="preencoded.png">    </p:cNvPr>
          <p:cNvPicPr>
            <a:picLocks noChangeAspect="1"/>
          </p:cNvPicPr>
          <p:nvPr/>
        </p:nvPicPr>
        <p:blipFill>
          <a:blip r:embed="rId5"/>
          <a:stretch>
            <a:fillRect/>
          </a:stretch>
        </p:blipFill>
        <p:spPr>
          <a:xfrm>
            <a:off x="7772400" y="1618488"/>
            <a:ext cx="329184" cy="329184"/>
          </a:xfrm>
          <a:prstGeom prst="rect">
            <a:avLst/>
          </a:prstGeom>
        </p:spPr>
      </p:pic>
      <p:sp>
        <p:nvSpPr>
          <p:cNvPr id="30" name="Text 23"/>
          <p:cNvSpPr txBox="1"/>
          <p:nvPr/>
        </p:nvSpPr>
        <p:spPr>
          <a:xfrm>
            <a:off x="7187184" y="2258568"/>
            <a:ext cx="1499616" cy="274320"/>
          </a:xfrm>
          <a:prstGeom prst="rect">
            <a:avLst/>
          </a:prstGeom>
          <a:noFill/>
          <a:ln/>
        </p:spPr>
        <p:txBody>
          <a:bodyPr wrap="square" lIns="0" tIns="0" rIns="0" bIns="0" rtlCol="0" anchor="ctr"/>
          <a:lstStyle/>
          <a:p>
            <a:pPr algn="ctr" indent="0" marL="0">
              <a:buNone/>
            </a:pPr>
            <a:r>
              <a:rPr lang="en-US" sz="1600" b="1" dirty="0">
                <a:solidFill>
                  <a:srgbClr val="5B6573"/>
                </a:solidFill>
                <a:latin typeface="Cambria" pitchFamily="34" charset="0"/>
                <a:ea typeface="Cambria" pitchFamily="34" charset="-122"/>
                <a:cs typeface="Cambria" pitchFamily="34" charset="-120"/>
              </a:rPr>
              <a:t>5</a:t>
            </a:r>
            <a:endParaRPr lang="en-US" sz="1600" dirty="0"/>
          </a:p>
        </p:txBody>
      </p:sp>
      <p:sp>
        <p:nvSpPr>
          <p:cNvPr id="31" name="Text 24"/>
          <p:cNvSpPr txBox="1"/>
          <p:nvPr/>
        </p:nvSpPr>
        <p:spPr>
          <a:xfrm>
            <a:off x="7187184" y="2532888"/>
            <a:ext cx="1499616" cy="292608"/>
          </a:xfrm>
          <a:prstGeom prst="rect">
            <a:avLst/>
          </a:prstGeom>
          <a:noFill/>
          <a:ln/>
        </p:spPr>
        <p:txBody>
          <a:bodyPr wrap="square" lIns="0" tIns="0" rIns="0" bIns="0" rtlCol="0" anchor="ctr"/>
          <a:lstStyle/>
          <a:p>
            <a:pPr algn="ctr" indent="0" marL="0">
              <a:buNone/>
            </a:pPr>
            <a:r>
              <a:rPr lang="en-US" sz="1350" b="1" dirty="0">
                <a:solidFill>
                  <a:srgbClr val="0E1B2C"/>
                </a:solidFill>
                <a:latin typeface="Calibri" pitchFamily="34" charset="0"/>
                <a:ea typeface="Calibri" pitchFamily="34" charset="-122"/>
                <a:cs typeface="Calibri" pitchFamily="34" charset="-120"/>
              </a:rPr>
              <a:t>Análisis</a:t>
            </a:r>
            <a:endParaRPr lang="en-US" sz="1350" dirty="0"/>
          </a:p>
        </p:txBody>
      </p:sp>
      <p:sp>
        <p:nvSpPr>
          <p:cNvPr id="32" name="Text 25"/>
          <p:cNvSpPr txBox="1"/>
          <p:nvPr/>
        </p:nvSpPr>
        <p:spPr>
          <a:xfrm>
            <a:off x="7187184" y="2843784"/>
            <a:ext cx="1499616" cy="685800"/>
          </a:xfrm>
          <a:prstGeom prst="rect">
            <a:avLst/>
          </a:prstGeom>
          <a:noFill/>
          <a:ln/>
        </p:spPr>
        <p:txBody>
          <a:bodyPr wrap="square" lIns="0" tIns="0" rIns="0" bIns="0" rtlCol="0" anchor="t"/>
          <a:lstStyle/>
          <a:p>
            <a:pPr algn="ctr" indent="0" marL="0">
              <a:buNone/>
            </a:pPr>
            <a:r>
              <a:rPr lang="en-US" sz="1100" dirty="0">
                <a:solidFill>
                  <a:srgbClr val="1F2A37"/>
                </a:solidFill>
                <a:latin typeface="Calibri" pitchFamily="34" charset="0"/>
                <a:ea typeface="Calibri" pitchFamily="34" charset="-122"/>
                <a:cs typeface="Calibri" pitchFamily="34" charset="-120"/>
              </a:rPr>
              <a:t>Un láser lee los picos y se comparan los perfiles.</a:t>
            </a:r>
            <a:endParaRPr lang="en-US" sz="1100" dirty="0"/>
          </a:p>
        </p:txBody>
      </p:sp>
      <p:sp>
        <p:nvSpPr>
          <p:cNvPr id="33" name="Shape 26"/>
          <p:cNvSpPr/>
          <p:nvPr/>
        </p:nvSpPr>
        <p:spPr>
          <a:xfrm>
            <a:off x="457200" y="3886200"/>
            <a:ext cx="8229600" cy="658368"/>
          </a:xfrm>
          <a:prstGeom prst="roundRect">
            <a:avLst>
              <a:gd name="adj" fmla="val 13889"/>
            </a:avLst>
          </a:prstGeom>
          <a:solidFill>
            <a:srgbClr val="0E1B2C"/>
          </a:solidFill>
          <a:ln/>
        </p:spPr>
      </p:sp>
      <p:sp>
        <p:nvSpPr>
          <p:cNvPr id="34" name="Text 27"/>
          <p:cNvSpPr txBox="1"/>
          <p:nvPr/>
        </p:nvSpPr>
        <p:spPr>
          <a:xfrm>
            <a:off x="685800" y="3886200"/>
            <a:ext cx="7772400" cy="658368"/>
          </a:xfrm>
          <a:prstGeom prst="rect">
            <a:avLst/>
          </a:prstGeom>
          <a:noFill/>
          <a:ln/>
        </p:spPr>
        <p:txBody>
          <a:bodyPr wrap="square" lIns="0" tIns="0" rIns="0" bIns="0" rtlCol="0" anchor="ctr"/>
          <a:lstStyle/>
          <a:p>
            <a:pPr indent="0" marL="0">
              <a:buNone/>
            </a:pPr>
            <a:r>
              <a:rPr lang="en-US" sz="1250" b="1" dirty="0">
                <a:solidFill>
                  <a:srgbClr val="F6B93B"/>
                </a:solidFill>
                <a:latin typeface="Calibri" pitchFamily="34" charset="0"/>
                <a:ea typeface="Calibri" pitchFamily="34" charset="-122"/>
                <a:cs typeface="Calibri" pitchFamily="34" charset="-120"/>
              </a:rPr>
              <a:t>Resultado: </a:t>
            </a:r>
            <a:pPr indent="0" marL="0">
              <a:buNone/>
            </a:pPr>
            <a:r>
              <a:rPr lang="en-US" sz="1250" dirty="0">
                <a:solidFill>
                  <a:srgbClr val="FFFFFF"/>
                </a:solidFill>
                <a:latin typeface="Calibri" pitchFamily="34" charset="0"/>
                <a:ea typeface="Calibri" pitchFamily="34" charset="-122"/>
                <a:cs typeface="Calibri" pitchFamily="34" charset="-120"/>
              </a:rPr>
              <a:t>un perfil genético = lista de números (repeticiones por locus). Ej.: Locus 1 → 12 / 14 · Locus 2 → 6 / 9 · Locus 3 → 15 / 15</a:t>
            </a:r>
            <a:endParaRPr lang="en-US" sz="1250" dirty="0"/>
          </a:p>
        </p:txBody>
      </p:sp>
      <p:sp>
        <p:nvSpPr>
          <p:cNvPr id="35" name="Text 28"/>
          <p:cNvSpPr txBox="1"/>
          <p:nvPr/>
        </p:nvSpPr>
        <p:spPr>
          <a:xfrm>
            <a:off x="4937760" y="4754880"/>
            <a:ext cx="3931920" cy="274320"/>
          </a:xfrm>
          <a:prstGeom prst="rect">
            <a:avLst/>
          </a:prstGeom>
          <a:noFill/>
          <a:ln/>
        </p:spPr>
        <p:txBody>
          <a:bodyPr wrap="square" lIns="0" tIns="0" rIns="0" bIns="0" rtlCol="0" anchor="ctr"/>
          <a:lstStyle/>
          <a:p>
            <a:pPr algn="r" indent="0" marL="0">
              <a:buNone/>
            </a:pPr>
            <a:r>
              <a:rPr lang="en-US" sz="1100" b="1" dirty="0">
                <a:solidFill>
                  <a:srgbClr val="1F2A37"/>
                </a:solidFill>
                <a:latin typeface="Calibri" pitchFamily="34" charset="0"/>
                <a:ea typeface="Calibri" pitchFamily="34" charset="-122"/>
                <a:cs typeface="Calibri" pitchFamily="34" charset="-120"/>
              </a:rPr>
              <a:t>Raquel [Apellidos]</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74320"/>
          </a:xfrm>
          <a:prstGeom prst="rect">
            <a:avLst/>
          </a:prstGeom>
          <a:noFill/>
          <a:ln/>
        </p:spPr>
        <p:txBody>
          <a:bodyPr wrap="square" lIns="0" tIns="0" rIns="0" bIns="0" rtlCol="0" anchor="ctr"/>
          <a:lstStyle/>
          <a:p>
            <a:pPr indent="0" marL="0">
              <a:buNone/>
            </a:pPr>
            <a:r>
              <a:rPr lang="en-US" sz="1100" b="1" spc="200" kern="0" dirty="0">
                <a:solidFill>
                  <a:srgbClr val="5B6573"/>
                </a:solidFill>
                <a:latin typeface="Calibri" pitchFamily="34" charset="0"/>
                <a:ea typeface="Calibri" pitchFamily="34" charset="-122"/>
                <a:cs typeface="Calibri" pitchFamily="34" charset="-120"/>
              </a:rPr>
              <a:t>3 · FUNCIONAMIENTO</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ctr"/>
          <a:lstStyle/>
          <a:p>
            <a:pPr indent="0" marL="0">
              <a:buNone/>
            </a:pPr>
            <a:r>
              <a:rPr lang="en-US" sz="3200" b="1" dirty="0">
                <a:solidFill>
                  <a:srgbClr val="0E1B2C"/>
                </a:solidFill>
                <a:latin typeface="Cambria" pitchFamily="34" charset="0"/>
                <a:ea typeface="Cambria" pitchFamily="34" charset="-122"/>
                <a:cs typeface="Cambria" pitchFamily="34" charset="-120"/>
              </a:rPr>
              <a:t>¿Por qué funciona?</a:t>
            </a:r>
            <a:endParaRPr lang="en-US" sz="3200" dirty="0"/>
          </a:p>
        </p:txBody>
      </p:sp>
      <p:sp>
        <p:nvSpPr>
          <p:cNvPr id="4" name="Shape 2"/>
          <p:cNvSpPr/>
          <p:nvPr/>
        </p:nvSpPr>
        <p:spPr>
          <a:xfrm>
            <a:off x="457200" y="1325880"/>
            <a:ext cx="3931920" cy="3200400"/>
          </a:xfrm>
          <a:prstGeom prst="roundRect">
            <a:avLst>
              <a:gd name="adj" fmla="val 3429"/>
            </a:avLst>
          </a:prstGeom>
          <a:solidFill>
            <a:srgbClr val="FFFFFF"/>
          </a:solidFill>
          <a:ln w="12700">
            <a:solidFill>
              <a:srgbClr val="E1E6EC"/>
            </a:solidFill>
            <a:prstDash val="solid"/>
          </a:ln>
          <a:effectLst>
            <a:outerShdw sx="100000" sy="100000" kx="0" ky="0" algn="bl" rotWithShape="0" blurRad="76200" dist="25400" dir="5400000">
              <a:srgbClr val="000000">
                <a:alpha val="12000"/>
              </a:srgbClr>
            </a:outerShdw>
          </a:effectLst>
        </p:spPr>
      </p:sp>
      <p:sp>
        <p:nvSpPr>
          <p:cNvPr id="5" name="Text 3"/>
          <p:cNvSpPr txBox="1"/>
          <p:nvPr/>
        </p:nvSpPr>
        <p:spPr>
          <a:xfrm>
            <a:off x="685800" y="1463040"/>
            <a:ext cx="3474720" cy="320040"/>
          </a:xfrm>
          <a:prstGeom prst="rect">
            <a:avLst/>
          </a:prstGeom>
          <a:noFill/>
          <a:ln/>
        </p:spPr>
        <p:txBody>
          <a:bodyPr wrap="square" lIns="0" tIns="0" rIns="0" bIns="0" rtlCol="0" anchor="ctr"/>
          <a:lstStyle/>
          <a:p>
            <a:pPr indent="0" marL="0">
              <a:buNone/>
            </a:pPr>
            <a:r>
              <a:rPr lang="en-US" sz="1400" b="1" dirty="0">
                <a:solidFill>
                  <a:srgbClr val="0E1B2C"/>
                </a:solidFill>
                <a:latin typeface="Calibri" pitchFamily="34" charset="0"/>
                <a:ea typeface="Calibri" pitchFamily="34" charset="-122"/>
                <a:cs typeface="Calibri" pitchFamily="34" charset="-120"/>
              </a:rPr>
              <a:t>PCR: copiar el STR millones de veces</a:t>
            </a:r>
            <a:endParaRPr lang="en-US" sz="1400" dirty="0"/>
          </a:p>
        </p:txBody>
      </p:sp>
      <p:sp>
        <p:nvSpPr>
          <p:cNvPr id="6" name="Shape 4"/>
          <p:cNvSpPr/>
          <p:nvPr/>
        </p:nvSpPr>
        <p:spPr>
          <a:xfrm>
            <a:off x="685800" y="1920240"/>
            <a:ext cx="960120" cy="502920"/>
          </a:xfrm>
          <a:prstGeom prst="roundRect">
            <a:avLst>
              <a:gd name="adj" fmla="val 14545"/>
            </a:avLst>
          </a:prstGeom>
          <a:solidFill>
            <a:srgbClr val="E4407B"/>
          </a:solidFill>
          <a:ln/>
        </p:spPr>
      </p:sp>
      <p:sp>
        <p:nvSpPr>
          <p:cNvPr id="7" name="Text 5"/>
          <p:cNvSpPr txBox="1"/>
          <p:nvPr/>
        </p:nvSpPr>
        <p:spPr>
          <a:xfrm>
            <a:off x="685800" y="1920240"/>
            <a:ext cx="9601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95 °C</a:t>
            </a:r>
            <a:endParaRPr lang="en-US" sz="1300" dirty="0"/>
          </a:p>
        </p:txBody>
      </p:sp>
      <p:sp>
        <p:nvSpPr>
          <p:cNvPr id="8" name="Text 6"/>
          <p:cNvSpPr txBox="1"/>
          <p:nvPr/>
        </p:nvSpPr>
        <p:spPr>
          <a:xfrm>
            <a:off x="1783080" y="1920240"/>
            <a:ext cx="2377440" cy="502920"/>
          </a:xfrm>
          <a:prstGeom prst="rect">
            <a:avLst/>
          </a:prstGeom>
          <a:noFill/>
          <a:ln/>
        </p:spPr>
        <p:txBody>
          <a:bodyPr wrap="square" lIns="0" tIns="0" rIns="0" bIns="0" rtlCol="0" anchor="ctr"/>
          <a:lstStyle/>
          <a:p>
            <a:pPr indent="0" marL="0">
              <a:buNone/>
            </a:pPr>
            <a:r>
              <a:rPr lang="en-US" sz="1150" b="1" dirty="0">
                <a:solidFill>
                  <a:srgbClr val="0E1B2C"/>
                </a:solidFill>
                <a:latin typeface="Calibri" pitchFamily="34" charset="0"/>
                <a:ea typeface="Calibri" pitchFamily="34" charset="-122"/>
                <a:cs typeface="Calibri" pitchFamily="34" charset="-120"/>
              </a:rPr>
              <a:t>Desnaturalización</a:t>
            </a:r>
            <a:endParaRPr lang="en-US" sz="1150" dirty="0"/>
          </a:p>
          <a:p>
            <a:pPr indent="0" marL="0">
              <a:buNone/>
            </a:pPr>
            <a:r>
              <a:rPr lang="en-US" sz="1150" dirty="0">
                <a:solidFill>
                  <a:srgbClr val="5B6573"/>
                </a:solidFill>
                <a:latin typeface="Calibri" pitchFamily="34" charset="0"/>
                <a:ea typeface="Calibri" pitchFamily="34" charset="-122"/>
                <a:cs typeface="Calibri" pitchFamily="34" charset="-120"/>
              </a:rPr>
              <a:t>se separan las dos hebras</a:t>
            </a:r>
            <a:endParaRPr lang="en-US" sz="1150" dirty="0"/>
          </a:p>
        </p:txBody>
      </p:sp>
      <p:sp>
        <p:nvSpPr>
          <p:cNvPr id="9" name="Shape 7"/>
          <p:cNvSpPr/>
          <p:nvPr/>
        </p:nvSpPr>
        <p:spPr>
          <a:xfrm>
            <a:off x="685800" y="2578608"/>
            <a:ext cx="960120" cy="502920"/>
          </a:xfrm>
          <a:prstGeom prst="roundRect">
            <a:avLst>
              <a:gd name="adj" fmla="val 14545"/>
            </a:avLst>
          </a:prstGeom>
          <a:solidFill>
            <a:srgbClr val="6C83F5"/>
          </a:solidFill>
          <a:ln/>
        </p:spPr>
      </p:sp>
      <p:sp>
        <p:nvSpPr>
          <p:cNvPr id="10" name="Text 8"/>
          <p:cNvSpPr txBox="1"/>
          <p:nvPr/>
        </p:nvSpPr>
        <p:spPr>
          <a:xfrm>
            <a:off x="685800" y="2578608"/>
            <a:ext cx="9601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55–65 °C</a:t>
            </a:r>
            <a:endParaRPr lang="en-US" sz="1300" dirty="0"/>
          </a:p>
        </p:txBody>
      </p:sp>
      <p:sp>
        <p:nvSpPr>
          <p:cNvPr id="11" name="Text 9"/>
          <p:cNvSpPr txBox="1"/>
          <p:nvPr/>
        </p:nvSpPr>
        <p:spPr>
          <a:xfrm>
            <a:off x="1783080" y="2578608"/>
            <a:ext cx="2377440" cy="502920"/>
          </a:xfrm>
          <a:prstGeom prst="rect">
            <a:avLst/>
          </a:prstGeom>
          <a:noFill/>
          <a:ln/>
        </p:spPr>
        <p:txBody>
          <a:bodyPr wrap="square" lIns="0" tIns="0" rIns="0" bIns="0" rtlCol="0" anchor="ctr"/>
          <a:lstStyle/>
          <a:p>
            <a:pPr indent="0" marL="0">
              <a:buNone/>
            </a:pPr>
            <a:r>
              <a:rPr lang="en-US" sz="1150" b="1" dirty="0">
                <a:solidFill>
                  <a:srgbClr val="0E1B2C"/>
                </a:solidFill>
                <a:latin typeface="Calibri" pitchFamily="34" charset="0"/>
                <a:ea typeface="Calibri" pitchFamily="34" charset="-122"/>
                <a:cs typeface="Calibri" pitchFamily="34" charset="-120"/>
              </a:rPr>
              <a:t>Alineamiento</a:t>
            </a:r>
            <a:endParaRPr lang="en-US" sz="1150" dirty="0"/>
          </a:p>
          <a:p>
            <a:pPr indent="0" marL="0">
              <a:buNone/>
            </a:pPr>
            <a:r>
              <a:rPr lang="en-US" sz="1150" dirty="0">
                <a:solidFill>
                  <a:srgbClr val="5B6573"/>
                </a:solidFill>
                <a:latin typeface="Calibri" pitchFamily="34" charset="0"/>
                <a:ea typeface="Calibri" pitchFamily="34" charset="-122"/>
                <a:cs typeface="Calibri" pitchFamily="34" charset="-120"/>
              </a:rPr>
              <a:t>los primers se unen a los lados del STR</a:t>
            </a:r>
            <a:endParaRPr lang="en-US" sz="1150" dirty="0"/>
          </a:p>
        </p:txBody>
      </p:sp>
      <p:sp>
        <p:nvSpPr>
          <p:cNvPr id="12" name="Shape 10"/>
          <p:cNvSpPr/>
          <p:nvPr/>
        </p:nvSpPr>
        <p:spPr>
          <a:xfrm>
            <a:off x="685800" y="3236976"/>
            <a:ext cx="960120" cy="502920"/>
          </a:xfrm>
          <a:prstGeom prst="roundRect">
            <a:avLst>
              <a:gd name="adj" fmla="val 14545"/>
            </a:avLst>
          </a:prstGeom>
          <a:solidFill>
            <a:srgbClr val="14B8A6"/>
          </a:solidFill>
          <a:ln/>
        </p:spPr>
      </p:sp>
      <p:sp>
        <p:nvSpPr>
          <p:cNvPr id="13" name="Text 11"/>
          <p:cNvSpPr txBox="1"/>
          <p:nvPr/>
        </p:nvSpPr>
        <p:spPr>
          <a:xfrm>
            <a:off x="685800" y="3236976"/>
            <a:ext cx="960120" cy="50292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72 °C</a:t>
            </a:r>
            <a:endParaRPr lang="en-US" sz="1300" dirty="0"/>
          </a:p>
        </p:txBody>
      </p:sp>
      <p:sp>
        <p:nvSpPr>
          <p:cNvPr id="14" name="Text 12"/>
          <p:cNvSpPr txBox="1"/>
          <p:nvPr/>
        </p:nvSpPr>
        <p:spPr>
          <a:xfrm>
            <a:off x="1783080" y="3236976"/>
            <a:ext cx="2377440" cy="502920"/>
          </a:xfrm>
          <a:prstGeom prst="rect">
            <a:avLst/>
          </a:prstGeom>
          <a:noFill/>
          <a:ln/>
        </p:spPr>
        <p:txBody>
          <a:bodyPr wrap="square" lIns="0" tIns="0" rIns="0" bIns="0" rtlCol="0" anchor="ctr"/>
          <a:lstStyle/>
          <a:p>
            <a:pPr indent="0" marL="0">
              <a:buNone/>
            </a:pPr>
            <a:r>
              <a:rPr lang="en-US" sz="1150" b="1" dirty="0">
                <a:solidFill>
                  <a:srgbClr val="0E1B2C"/>
                </a:solidFill>
                <a:latin typeface="Calibri" pitchFamily="34" charset="0"/>
                <a:ea typeface="Calibri" pitchFamily="34" charset="-122"/>
                <a:cs typeface="Calibri" pitchFamily="34" charset="-120"/>
              </a:rPr>
              <a:t>Extensión</a:t>
            </a:r>
            <a:endParaRPr lang="en-US" sz="1150" dirty="0"/>
          </a:p>
          <a:p>
            <a:pPr indent="0" marL="0">
              <a:buNone/>
            </a:pPr>
            <a:r>
              <a:rPr lang="en-US" sz="1150" dirty="0">
                <a:solidFill>
                  <a:srgbClr val="5B6573"/>
                </a:solidFill>
                <a:latin typeface="Calibri" pitchFamily="34" charset="0"/>
                <a:ea typeface="Calibri" pitchFamily="34" charset="-122"/>
                <a:cs typeface="Calibri" pitchFamily="34" charset="-120"/>
              </a:rPr>
              <a:t>la ADN polimerasa copia la hebra</a:t>
            </a:r>
            <a:endParaRPr lang="en-US" sz="1150" dirty="0"/>
          </a:p>
        </p:txBody>
      </p:sp>
      <p:sp>
        <p:nvSpPr>
          <p:cNvPr id="15" name="Text 13"/>
          <p:cNvSpPr txBox="1"/>
          <p:nvPr/>
        </p:nvSpPr>
        <p:spPr>
          <a:xfrm>
            <a:off x="685800" y="3931920"/>
            <a:ext cx="3474720" cy="411480"/>
          </a:xfrm>
          <a:prstGeom prst="rect">
            <a:avLst/>
          </a:prstGeom>
          <a:noFill/>
          <a:ln/>
        </p:spPr>
        <p:txBody>
          <a:bodyPr wrap="square" lIns="0" tIns="0" rIns="0" bIns="0" rtlCol="0" anchor="ctr"/>
          <a:lstStyle/>
          <a:p>
            <a:pPr indent="0" marL="0">
              <a:buNone/>
            </a:pPr>
            <a:r>
              <a:rPr lang="en-US" sz="1200" b="1" dirty="0">
                <a:solidFill>
                  <a:srgbClr val="0E1B2C"/>
                </a:solidFill>
                <a:latin typeface="Calibri" pitchFamily="34" charset="0"/>
                <a:ea typeface="Calibri" pitchFamily="34" charset="-122"/>
                <a:cs typeface="Calibri" pitchFamily="34" charset="-120"/>
              </a:rPr>
              <a:t>Cada ciclo duplica el ADN: </a:t>
            </a:r>
            <a:pPr indent="0" marL="0">
              <a:buNone/>
            </a:pPr>
            <a:r>
              <a:rPr lang="en-US" sz="1200" dirty="0">
                <a:solidFill>
                  <a:srgbClr val="1F2A37"/>
                </a:solidFill>
                <a:latin typeface="Calibri" pitchFamily="34" charset="0"/>
                <a:ea typeface="Calibri" pitchFamily="34" charset="-122"/>
                <a:cs typeface="Calibri" pitchFamily="34" charset="-120"/>
              </a:rPr>
              <a:t>~30 ciclos ≈ mil millones de copias.</a:t>
            </a:r>
            <a:endParaRPr lang="en-US" sz="1200" dirty="0"/>
          </a:p>
        </p:txBody>
      </p:sp>
      <p:sp>
        <p:nvSpPr>
          <p:cNvPr id="16" name="Shape 14"/>
          <p:cNvSpPr/>
          <p:nvPr/>
        </p:nvSpPr>
        <p:spPr>
          <a:xfrm>
            <a:off x="4754880" y="1325880"/>
            <a:ext cx="1234440" cy="1783080"/>
          </a:xfrm>
          <a:prstGeom prst="roundRect">
            <a:avLst>
              <a:gd name="adj" fmla="val 5926"/>
            </a:avLst>
          </a:prstGeom>
          <a:solidFill>
            <a:srgbClr val="0E1B2C"/>
          </a:solidFill>
          <a:ln/>
        </p:spPr>
      </p:sp>
      <p:sp>
        <p:nvSpPr>
          <p:cNvPr id="17" name="Text 15"/>
          <p:cNvSpPr txBox="1"/>
          <p:nvPr/>
        </p:nvSpPr>
        <p:spPr>
          <a:xfrm>
            <a:off x="4754880" y="1344168"/>
            <a:ext cx="1234440" cy="20116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8" name="Text 16"/>
          <p:cNvSpPr txBox="1"/>
          <p:nvPr/>
        </p:nvSpPr>
        <p:spPr>
          <a:xfrm>
            <a:off x="4754880" y="2880360"/>
            <a:ext cx="1234440" cy="20116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a:t>
            </a:r>
            <a:endParaRPr lang="en-US" sz="1200" dirty="0"/>
          </a:p>
        </p:txBody>
      </p:sp>
      <p:sp>
        <p:nvSpPr>
          <p:cNvPr id="19" name="Shape 17"/>
          <p:cNvSpPr/>
          <p:nvPr/>
        </p:nvSpPr>
        <p:spPr>
          <a:xfrm>
            <a:off x="4910328" y="1920240"/>
            <a:ext cx="256032" cy="64008"/>
          </a:xfrm>
          <a:prstGeom prst="rect">
            <a:avLst/>
          </a:prstGeom>
          <a:solidFill>
            <a:srgbClr val="14B8A6"/>
          </a:solidFill>
          <a:ln/>
        </p:spPr>
      </p:sp>
      <p:sp>
        <p:nvSpPr>
          <p:cNvPr id="20" name="Shape 18"/>
          <p:cNvSpPr/>
          <p:nvPr/>
        </p:nvSpPr>
        <p:spPr>
          <a:xfrm>
            <a:off x="4910328" y="2331720"/>
            <a:ext cx="256032" cy="64008"/>
          </a:xfrm>
          <a:prstGeom prst="rect">
            <a:avLst/>
          </a:prstGeom>
          <a:solidFill>
            <a:srgbClr val="14B8A6"/>
          </a:solidFill>
          <a:ln/>
        </p:spPr>
      </p:sp>
      <p:sp>
        <p:nvSpPr>
          <p:cNvPr id="21" name="Shape 19"/>
          <p:cNvSpPr/>
          <p:nvPr/>
        </p:nvSpPr>
        <p:spPr>
          <a:xfrm>
            <a:off x="5239512" y="2103120"/>
            <a:ext cx="256032" cy="64008"/>
          </a:xfrm>
          <a:prstGeom prst="rect">
            <a:avLst/>
          </a:prstGeom>
          <a:solidFill>
            <a:srgbClr val="F6B93B"/>
          </a:solidFill>
          <a:ln/>
        </p:spPr>
      </p:sp>
      <p:sp>
        <p:nvSpPr>
          <p:cNvPr id="22" name="Shape 20"/>
          <p:cNvSpPr/>
          <p:nvPr/>
        </p:nvSpPr>
        <p:spPr>
          <a:xfrm>
            <a:off x="5239512" y="2651760"/>
            <a:ext cx="256032" cy="64008"/>
          </a:xfrm>
          <a:prstGeom prst="rect">
            <a:avLst/>
          </a:prstGeom>
          <a:solidFill>
            <a:srgbClr val="F6B93B"/>
          </a:solidFill>
          <a:ln/>
        </p:spPr>
      </p:sp>
      <p:sp>
        <p:nvSpPr>
          <p:cNvPr id="23" name="Shape 21"/>
          <p:cNvSpPr/>
          <p:nvPr/>
        </p:nvSpPr>
        <p:spPr>
          <a:xfrm>
            <a:off x="5568696" y="1783080"/>
            <a:ext cx="256032" cy="64008"/>
          </a:xfrm>
          <a:prstGeom prst="rect">
            <a:avLst/>
          </a:prstGeom>
          <a:solidFill>
            <a:srgbClr val="E4407B"/>
          </a:solidFill>
          <a:ln/>
        </p:spPr>
      </p:sp>
      <p:sp>
        <p:nvSpPr>
          <p:cNvPr id="24" name="Shape 22"/>
          <p:cNvSpPr/>
          <p:nvPr/>
        </p:nvSpPr>
        <p:spPr>
          <a:xfrm>
            <a:off x="5568696" y="2103120"/>
            <a:ext cx="256032" cy="64008"/>
          </a:xfrm>
          <a:prstGeom prst="rect">
            <a:avLst/>
          </a:prstGeom>
          <a:solidFill>
            <a:srgbClr val="E4407B"/>
          </a:solidFill>
          <a:ln/>
        </p:spPr>
      </p:sp>
      <p:sp>
        <p:nvSpPr>
          <p:cNvPr id="25" name="Text 23"/>
          <p:cNvSpPr txBox="1"/>
          <p:nvPr/>
        </p:nvSpPr>
        <p:spPr>
          <a:xfrm>
            <a:off x="6172200" y="1325880"/>
            <a:ext cx="2514600" cy="1783080"/>
          </a:xfrm>
          <a:prstGeom prst="rect">
            <a:avLst/>
          </a:prstGeom>
          <a:noFill/>
          <a:ln/>
        </p:spPr>
        <p:txBody>
          <a:bodyPr wrap="square" lIns="0" tIns="0" rIns="0" bIns="0" rtlCol="0" anchor="ctr"/>
          <a:lstStyle/>
          <a:p>
            <a:pPr indent="0" marL="0">
              <a:buNone/>
            </a:pPr>
            <a:r>
              <a:rPr lang="en-US" sz="1200" b="1" dirty="0">
                <a:solidFill>
                  <a:srgbClr val="0E1B2C"/>
                </a:solidFill>
                <a:latin typeface="Calibri" pitchFamily="34" charset="0"/>
                <a:ea typeface="Calibri" pitchFamily="34" charset="-122"/>
                <a:cs typeface="Calibri" pitchFamily="34" charset="-120"/>
              </a:rPr>
              <a:t>Electroforesis</a:t>
            </a:r>
            <a:endParaRPr lang="en-US" sz="1200" dirty="0"/>
          </a:p>
          <a:p>
            <a:pPr indent="0" marL="0">
              <a:buNone/>
            </a:pPr>
            <a:r>
              <a:rPr lang="en-US" sz="1200" dirty="0">
                <a:solidFill>
                  <a:srgbClr val="1F2A37"/>
                </a:solidFill>
                <a:latin typeface="Calibri" pitchFamily="34" charset="0"/>
                <a:ea typeface="Calibri" pitchFamily="34" charset="-122"/>
                <a:cs typeface="Calibri" pitchFamily="34" charset="-120"/>
              </a:rPr>
              <a:t>El ADN tiene carga negativa y migra hacia el polo +. Los fragmentos más cortos (menos repeticiones) avanzan más rápido.</a:t>
            </a:r>
            <a:endParaRPr lang="en-US" sz="1200" dirty="0"/>
          </a:p>
        </p:txBody>
      </p:sp>
      <p:sp>
        <p:nvSpPr>
          <p:cNvPr id="26" name="Text 24"/>
          <p:cNvSpPr txBox="1"/>
          <p:nvPr/>
        </p:nvSpPr>
        <p:spPr>
          <a:xfrm>
            <a:off x="4754880" y="3291840"/>
            <a:ext cx="1783080" cy="548640"/>
          </a:xfrm>
          <a:prstGeom prst="rect">
            <a:avLst/>
          </a:prstGeom>
          <a:noFill/>
          <a:ln/>
        </p:spPr>
        <p:txBody>
          <a:bodyPr wrap="square" lIns="0" tIns="0" rIns="0" bIns="0" rtlCol="0" anchor="b"/>
          <a:lstStyle/>
          <a:p>
            <a:pPr indent="0" marL="0">
              <a:buNone/>
            </a:pPr>
            <a:r>
              <a:rPr lang="en-US" sz="4000" b="1" dirty="0">
                <a:solidFill>
                  <a:srgbClr val="14B8A6"/>
                </a:solidFill>
                <a:latin typeface="Cambria" pitchFamily="34" charset="0"/>
                <a:ea typeface="Cambria" pitchFamily="34" charset="-122"/>
                <a:cs typeface="Cambria" pitchFamily="34" charset="-120"/>
              </a:rPr>
              <a:t>20</a:t>
            </a:r>
            <a:endParaRPr lang="en-US" sz="4000" dirty="0"/>
          </a:p>
        </p:txBody>
      </p:sp>
      <p:sp>
        <p:nvSpPr>
          <p:cNvPr id="27" name="Text 25"/>
          <p:cNvSpPr txBox="1"/>
          <p:nvPr/>
        </p:nvSpPr>
        <p:spPr>
          <a:xfrm>
            <a:off x="4754880" y="3886200"/>
            <a:ext cx="1783080" cy="640080"/>
          </a:xfrm>
          <a:prstGeom prst="rect">
            <a:avLst/>
          </a:prstGeom>
          <a:noFill/>
          <a:ln/>
        </p:spPr>
        <p:txBody>
          <a:bodyPr wrap="square" lIns="0" tIns="0" rIns="0" bIns="0" rtlCol="0" anchor="t"/>
          <a:lstStyle/>
          <a:p>
            <a:pPr indent="0" marL="0">
              <a:buNone/>
            </a:pPr>
            <a:r>
              <a:rPr lang="en-US" sz="1050" dirty="0">
                <a:solidFill>
                  <a:srgbClr val="5B6573"/>
                </a:solidFill>
                <a:latin typeface="Calibri" pitchFamily="34" charset="0"/>
                <a:ea typeface="Calibri" pitchFamily="34" charset="-122"/>
                <a:cs typeface="Calibri" pitchFamily="34" charset="-120"/>
              </a:rPr>
              <a:t>loci STR usa el FBI (CODIS) desde 2017</a:t>
            </a:r>
            <a:endParaRPr lang="en-US" sz="1050" dirty="0"/>
          </a:p>
        </p:txBody>
      </p:sp>
      <p:sp>
        <p:nvSpPr>
          <p:cNvPr id="28" name="Text 26"/>
          <p:cNvSpPr txBox="1"/>
          <p:nvPr/>
        </p:nvSpPr>
        <p:spPr>
          <a:xfrm>
            <a:off x="6766560" y="3291840"/>
            <a:ext cx="1920240" cy="548640"/>
          </a:xfrm>
          <a:prstGeom prst="rect">
            <a:avLst/>
          </a:prstGeom>
          <a:noFill/>
          <a:ln/>
        </p:spPr>
        <p:txBody>
          <a:bodyPr wrap="square" lIns="0" tIns="0" rIns="0" bIns="0" rtlCol="0" anchor="b"/>
          <a:lstStyle/>
          <a:p>
            <a:pPr indent="0" marL="0">
              <a:buNone/>
            </a:pPr>
            <a:r>
              <a:rPr lang="en-US" sz="2200" b="1" dirty="0">
                <a:solidFill>
                  <a:srgbClr val="E4407B"/>
                </a:solidFill>
                <a:latin typeface="Cambria" pitchFamily="34" charset="0"/>
                <a:ea typeface="Cambria" pitchFamily="34" charset="-122"/>
                <a:cs typeface="Cambria" pitchFamily="34" charset="-120"/>
              </a:rPr>
              <a:t>&lt; 1 en 1 billón</a:t>
            </a:r>
            <a:endParaRPr lang="en-US" sz="2200" dirty="0"/>
          </a:p>
        </p:txBody>
      </p:sp>
      <p:sp>
        <p:nvSpPr>
          <p:cNvPr id="29" name="Text 27"/>
          <p:cNvSpPr txBox="1"/>
          <p:nvPr/>
        </p:nvSpPr>
        <p:spPr>
          <a:xfrm>
            <a:off x="6766560" y="3886200"/>
            <a:ext cx="1920240" cy="640080"/>
          </a:xfrm>
          <a:prstGeom prst="rect">
            <a:avLst/>
          </a:prstGeom>
          <a:noFill/>
          <a:ln/>
        </p:spPr>
        <p:txBody>
          <a:bodyPr wrap="square" lIns="0" tIns="0" rIns="0" bIns="0" rtlCol="0" anchor="t"/>
          <a:lstStyle/>
          <a:p>
            <a:pPr indent="0" marL="0">
              <a:buNone/>
            </a:pPr>
            <a:r>
              <a:rPr lang="en-US" sz="1050" dirty="0">
                <a:solidFill>
                  <a:srgbClr val="5B6573"/>
                </a:solidFill>
                <a:latin typeface="Calibri" pitchFamily="34" charset="0"/>
                <a:ea typeface="Calibri" pitchFamily="34" charset="-122"/>
                <a:cs typeface="Calibri" pitchFamily="34" charset="-120"/>
              </a:rPr>
              <a:t>probabilidad de que dos personas no emparentadas coincidan</a:t>
            </a:r>
            <a:endParaRPr lang="en-US" sz="1050" dirty="0"/>
          </a:p>
        </p:txBody>
      </p:sp>
      <p:sp>
        <p:nvSpPr>
          <p:cNvPr id="30" name="Text 28"/>
          <p:cNvSpPr txBox="1"/>
          <p:nvPr/>
        </p:nvSpPr>
        <p:spPr>
          <a:xfrm>
            <a:off x="4937760" y="4754880"/>
            <a:ext cx="3931920" cy="274320"/>
          </a:xfrm>
          <a:prstGeom prst="rect">
            <a:avLst/>
          </a:prstGeom>
          <a:noFill/>
          <a:ln/>
        </p:spPr>
        <p:txBody>
          <a:bodyPr wrap="square" lIns="0" tIns="0" rIns="0" bIns="0" rtlCol="0" anchor="ctr"/>
          <a:lstStyle/>
          <a:p>
            <a:pPr algn="r" indent="0" marL="0">
              <a:buNone/>
            </a:pPr>
            <a:r>
              <a:rPr lang="en-US" sz="1100" b="1" dirty="0">
                <a:solidFill>
                  <a:srgbClr val="1F2A37"/>
                </a:solidFill>
                <a:latin typeface="Calibri" pitchFamily="34" charset="0"/>
                <a:ea typeface="Calibri" pitchFamily="34" charset="-122"/>
                <a:cs typeface="Calibri" pitchFamily="34" charset="-120"/>
              </a:rPr>
              <a:t>Misael [Apellidos]</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74320"/>
          </a:xfrm>
          <a:prstGeom prst="rect">
            <a:avLst/>
          </a:prstGeom>
          <a:noFill/>
          <a:ln/>
        </p:spPr>
        <p:txBody>
          <a:bodyPr wrap="square" lIns="0" tIns="0" rIns="0" bIns="0" rtlCol="0" anchor="ctr"/>
          <a:lstStyle/>
          <a:p>
            <a:pPr indent="0" marL="0">
              <a:buNone/>
            </a:pPr>
            <a:r>
              <a:rPr lang="en-US" sz="1100" b="1" spc="200" kern="0" dirty="0">
                <a:solidFill>
                  <a:srgbClr val="5B6573"/>
                </a:solidFill>
                <a:latin typeface="Calibri" pitchFamily="34" charset="0"/>
                <a:ea typeface="Calibri" pitchFamily="34" charset="-122"/>
                <a:cs typeface="Calibri" pitchFamily="34" charset="-120"/>
              </a:rPr>
              <a:t>4 · APLICACIONES</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ctr"/>
          <a:lstStyle/>
          <a:p>
            <a:pPr indent="0" marL="0">
              <a:buNone/>
            </a:pPr>
            <a:r>
              <a:rPr lang="en-US" sz="3200" b="1" dirty="0">
                <a:solidFill>
                  <a:srgbClr val="0E1B2C"/>
                </a:solidFill>
                <a:latin typeface="Cambria" pitchFamily="34" charset="0"/>
                <a:ea typeface="Cambria" pitchFamily="34" charset="-122"/>
                <a:cs typeface="Cambria" pitchFamily="34" charset="-120"/>
              </a:rPr>
              <a:t>Aplicaciones en biotecnología</a:t>
            </a:r>
            <a:endParaRPr lang="en-US" sz="3200" dirty="0"/>
          </a:p>
        </p:txBody>
      </p:sp>
      <p:sp>
        <p:nvSpPr>
          <p:cNvPr id="4" name="Shape 2"/>
          <p:cNvSpPr/>
          <p:nvPr/>
        </p:nvSpPr>
        <p:spPr>
          <a:xfrm>
            <a:off x="457200" y="1325880"/>
            <a:ext cx="2596896" cy="3200400"/>
          </a:xfrm>
          <a:prstGeom prst="roundRect">
            <a:avLst>
              <a:gd name="adj" fmla="val 4225"/>
            </a:avLst>
          </a:prstGeom>
          <a:solidFill>
            <a:srgbClr val="FFFFFF"/>
          </a:solidFill>
          <a:ln w="12700">
            <a:solidFill>
              <a:srgbClr val="E1E6EC"/>
            </a:solidFill>
            <a:prstDash val="solid"/>
          </a:ln>
          <a:effectLst>
            <a:outerShdw sx="100000" sy="100000" kx="0" ky="0" algn="bl" rotWithShape="0" blurRad="76200" dist="25400" dir="5400000">
              <a:srgbClr val="000000">
                <a:alpha val="12000"/>
              </a:srgbClr>
            </a:outerShdw>
          </a:effectLst>
        </p:spPr>
      </p:sp>
      <p:sp>
        <p:nvSpPr>
          <p:cNvPr id="5" name="Shape 3"/>
          <p:cNvSpPr/>
          <p:nvPr/>
        </p:nvSpPr>
        <p:spPr>
          <a:xfrm>
            <a:off x="685800" y="1554480"/>
            <a:ext cx="566928" cy="566928"/>
          </a:xfrm>
          <a:prstGeom prst="ellipse">
            <a:avLst/>
          </a:prstGeom>
          <a:solidFill>
            <a:srgbClr val="6C83F5"/>
          </a:solidFill>
          <a:ln/>
        </p:spPr>
      </p:sp>
      <p:pic>
        <p:nvPicPr>
          <p:cNvPr id="6" name="Image 0" descr="preencoded.png">    </p:cNvPr>
          <p:cNvPicPr>
            <a:picLocks noChangeAspect="1"/>
          </p:cNvPicPr>
          <p:nvPr/>
        </p:nvPicPr>
        <p:blipFill>
          <a:blip r:embed="rId1"/>
          <a:stretch>
            <a:fillRect/>
          </a:stretch>
        </p:blipFill>
        <p:spPr>
          <a:xfrm>
            <a:off x="813816" y="1682496"/>
            <a:ext cx="310896" cy="310896"/>
          </a:xfrm>
          <a:prstGeom prst="rect">
            <a:avLst/>
          </a:prstGeom>
        </p:spPr>
      </p:pic>
      <p:sp>
        <p:nvSpPr>
          <p:cNvPr id="7" name="Text 4"/>
          <p:cNvSpPr txBox="1"/>
          <p:nvPr/>
        </p:nvSpPr>
        <p:spPr>
          <a:xfrm>
            <a:off x="685800" y="2240280"/>
            <a:ext cx="2139696" cy="365760"/>
          </a:xfrm>
          <a:prstGeom prst="rect">
            <a:avLst/>
          </a:prstGeom>
          <a:noFill/>
          <a:ln/>
        </p:spPr>
        <p:txBody>
          <a:bodyPr wrap="square" lIns="0" tIns="0" rIns="0" bIns="0" rtlCol="0" anchor="ctr"/>
          <a:lstStyle/>
          <a:p>
            <a:pPr indent="0" marL="0">
              <a:buNone/>
            </a:pPr>
            <a:r>
              <a:rPr lang="en-US" sz="1700" b="1" dirty="0">
                <a:solidFill>
                  <a:srgbClr val="0E1B2C"/>
                </a:solidFill>
                <a:latin typeface="Cambria" pitchFamily="34" charset="0"/>
                <a:ea typeface="Cambria" pitchFamily="34" charset="-122"/>
                <a:cs typeface="Cambria" pitchFamily="34" charset="-120"/>
              </a:rPr>
              <a:t>Forense</a:t>
            </a:r>
            <a:endParaRPr lang="en-US" sz="1700" dirty="0"/>
          </a:p>
        </p:txBody>
      </p:sp>
      <p:sp>
        <p:nvSpPr>
          <p:cNvPr id="8" name="Text 5"/>
          <p:cNvSpPr txBox="1"/>
          <p:nvPr/>
        </p:nvSpPr>
        <p:spPr>
          <a:xfrm>
            <a:off x="685800" y="2651760"/>
            <a:ext cx="2231136" cy="173736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F2A37"/>
                </a:solidFill>
                <a:latin typeface="Calibri" pitchFamily="34" charset="0"/>
                <a:ea typeface="Calibri" pitchFamily="34" charset="-122"/>
                <a:cs typeface="Calibri" pitchFamily="34" charset="-120"/>
              </a:rPr>
              <a:t>Comparar evidencia de una escena con sospechosos o con CODIS.</a:t>
            </a:r>
            <a:endParaRPr lang="en-US" sz="1100" dirty="0"/>
          </a:p>
          <a:p>
            <a:pPr marL="342900" indent="-342900">
              <a:spcAft>
                <a:spcPts val="600"/>
              </a:spcAft>
              <a:buSzPct val="100000"/>
              <a:buChar char="•"/>
            </a:pPr>
            <a:r>
              <a:rPr lang="en-US" sz="1100" dirty="0">
                <a:solidFill>
                  <a:srgbClr val="1F2A37"/>
                </a:solidFill>
                <a:latin typeface="Calibri" pitchFamily="34" charset="0"/>
                <a:ea typeface="Calibri" pitchFamily="34" charset="-122"/>
                <a:cs typeface="Calibri" pitchFamily="34" charset="-120"/>
              </a:rPr>
              <a:t>Identificar víctimas de desastres y personas desaparecidas.</a:t>
            </a:r>
            <a:endParaRPr lang="en-US" sz="1100" dirty="0"/>
          </a:p>
          <a:p>
            <a:pPr marL="342900" indent="-342900">
              <a:spcAft>
                <a:spcPts val="600"/>
              </a:spcAft>
              <a:buSzPct val="100000"/>
              <a:buChar char="•"/>
            </a:pPr>
            <a:r>
              <a:rPr lang="en-US" sz="1100" dirty="0">
                <a:solidFill>
                  <a:srgbClr val="1F2A37"/>
                </a:solidFill>
                <a:latin typeface="Calibri" pitchFamily="34" charset="0"/>
                <a:ea typeface="Calibri" pitchFamily="34" charset="-122"/>
                <a:cs typeface="Calibri" pitchFamily="34" charset="-120"/>
              </a:rPr>
              <a:t>Liberar a personas condenadas injustamente.</a:t>
            </a:r>
            <a:endParaRPr lang="en-US" sz="1100" dirty="0"/>
          </a:p>
        </p:txBody>
      </p:sp>
      <p:sp>
        <p:nvSpPr>
          <p:cNvPr id="9" name="Shape 6"/>
          <p:cNvSpPr/>
          <p:nvPr/>
        </p:nvSpPr>
        <p:spPr>
          <a:xfrm>
            <a:off x="3273552" y="1325880"/>
            <a:ext cx="2596896" cy="3200400"/>
          </a:xfrm>
          <a:prstGeom prst="roundRect">
            <a:avLst>
              <a:gd name="adj" fmla="val 4225"/>
            </a:avLst>
          </a:prstGeom>
          <a:solidFill>
            <a:srgbClr val="FFFFFF"/>
          </a:solidFill>
          <a:ln w="12700">
            <a:solidFill>
              <a:srgbClr val="E1E6EC"/>
            </a:solidFill>
            <a:prstDash val="solid"/>
          </a:ln>
          <a:effectLst>
            <a:outerShdw sx="100000" sy="100000" kx="0" ky="0" algn="bl" rotWithShape="0" blurRad="76200" dist="25400" dir="5400000">
              <a:srgbClr val="000000">
                <a:alpha val="12000"/>
              </a:srgbClr>
            </a:outerShdw>
          </a:effectLst>
        </p:spPr>
      </p:sp>
      <p:sp>
        <p:nvSpPr>
          <p:cNvPr id="10" name="Shape 7"/>
          <p:cNvSpPr/>
          <p:nvPr/>
        </p:nvSpPr>
        <p:spPr>
          <a:xfrm>
            <a:off x="3502152" y="1554480"/>
            <a:ext cx="566928" cy="566928"/>
          </a:xfrm>
          <a:prstGeom prst="ellipse">
            <a:avLst/>
          </a:prstGeom>
          <a:solidFill>
            <a:srgbClr val="E4407B"/>
          </a:solidFill>
          <a:ln/>
        </p:spPr>
      </p:sp>
      <p:pic>
        <p:nvPicPr>
          <p:cNvPr id="11" name="Image 1" descr="preencoded.png">    </p:cNvPr>
          <p:cNvPicPr>
            <a:picLocks noChangeAspect="1"/>
          </p:cNvPicPr>
          <p:nvPr/>
        </p:nvPicPr>
        <p:blipFill>
          <a:blip r:embed="rId2"/>
          <a:stretch>
            <a:fillRect/>
          </a:stretch>
        </p:blipFill>
        <p:spPr>
          <a:xfrm>
            <a:off x="3630168" y="1682496"/>
            <a:ext cx="310896" cy="310896"/>
          </a:xfrm>
          <a:prstGeom prst="rect">
            <a:avLst/>
          </a:prstGeom>
        </p:spPr>
      </p:pic>
      <p:sp>
        <p:nvSpPr>
          <p:cNvPr id="12" name="Text 8"/>
          <p:cNvSpPr txBox="1"/>
          <p:nvPr/>
        </p:nvSpPr>
        <p:spPr>
          <a:xfrm>
            <a:off x="3502152" y="2240280"/>
            <a:ext cx="2139696" cy="365760"/>
          </a:xfrm>
          <a:prstGeom prst="rect">
            <a:avLst/>
          </a:prstGeom>
          <a:noFill/>
          <a:ln/>
        </p:spPr>
        <p:txBody>
          <a:bodyPr wrap="square" lIns="0" tIns="0" rIns="0" bIns="0" rtlCol="0" anchor="ctr"/>
          <a:lstStyle/>
          <a:p>
            <a:pPr indent="0" marL="0">
              <a:buNone/>
            </a:pPr>
            <a:r>
              <a:rPr lang="en-US" sz="1700" b="1" dirty="0">
                <a:solidFill>
                  <a:srgbClr val="0E1B2C"/>
                </a:solidFill>
                <a:latin typeface="Cambria" pitchFamily="34" charset="0"/>
                <a:ea typeface="Cambria" pitchFamily="34" charset="-122"/>
                <a:cs typeface="Cambria" pitchFamily="34" charset="-120"/>
              </a:rPr>
              <a:t>Médica</a:t>
            </a:r>
            <a:endParaRPr lang="en-US" sz="1700" dirty="0"/>
          </a:p>
        </p:txBody>
      </p:sp>
      <p:sp>
        <p:nvSpPr>
          <p:cNvPr id="13" name="Text 9"/>
          <p:cNvSpPr txBox="1"/>
          <p:nvPr/>
        </p:nvSpPr>
        <p:spPr>
          <a:xfrm>
            <a:off x="3502152" y="2651760"/>
            <a:ext cx="2231136" cy="173736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F2A37"/>
                </a:solidFill>
                <a:latin typeface="Calibri" pitchFamily="34" charset="0"/>
                <a:ea typeface="Calibri" pitchFamily="34" charset="-122"/>
                <a:cs typeface="Calibri" pitchFamily="34" charset="-120"/>
              </a:rPr>
              <a:t>Pruebas de paternidad y parentesco.</a:t>
            </a:r>
            <a:endParaRPr lang="en-US" sz="1100" dirty="0"/>
          </a:p>
          <a:p>
            <a:pPr marL="342900" indent="-342900">
              <a:spcAft>
                <a:spcPts val="600"/>
              </a:spcAft>
              <a:buSzPct val="100000"/>
              <a:buChar char="•"/>
            </a:pPr>
            <a:r>
              <a:rPr lang="en-US" sz="1100" dirty="0">
                <a:solidFill>
                  <a:srgbClr val="1F2A37"/>
                </a:solidFill>
                <a:latin typeface="Calibri" pitchFamily="34" charset="0"/>
                <a:ea typeface="Calibri" pitchFamily="34" charset="-122"/>
                <a:cs typeface="Calibri" pitchFamily="34" charset="-120"/>
              </a:rPr>
              <a:t>Vigilar trasplantes de médula ósea (quimerismo donante-receptor).</a:t>
            </a:r>
            <a:endParaRPr lang="en-US" sz="1100" dirty="0"/>
          </a:p>
          <a:p>
            <a:pPr marL="342900" indent="-342900">
              <a:spcAft>
                <a:spcPts val="600"/>
              </a:spcAft>
              <a:buSzPct val="100000"/>
              <a:buChar char="•"/>
            </a:pPr>
            <a:r>
              <a:rPr lang="en-US" sz="1100" dirty="0">
                <a:solidFill>
                  <a:srgbClr val="1F2A37"/>
                </a:solidFill>
                <a:latin typeface="Calibri" pitchFamily="34" charset="0"/>
                <a:ea typeface="Calibri" pitchFamily="34" charset="-122"/>
                <a:cs typeface="Calibri" pitchFamily="34" charset="-120"/>
              </a:rPr>
              <a:t>Autenticar líneas celulares de laboratorio.</a:t>
            </a:r>
            <a:endParaRPr lang="en-US" sz="1100" dirty="0"/>
          </a:p>
        </p:txBody>
      </p:sp>
      <p:sp>
        <p:nvSpPr>
          <p:cNvPr id="14" name="Shape 10"/>
          <p:cNvSpPr/>
          <p:nvPr/>
        </p:nvSpPr>
        <p:spPr>
          <a:xfrm>
            <a:off x="6089904" y="1325880"/>
            <a:ext cx="2596896" cy="3200400"/>
          </a:xfrm>
          <a:prstGeom prst="roundRect">
            <a:avLst>
              <a:gd name="adj" fmla="val 4225"/>
            </a:avLst>
          </a:prstGeom>
          <a:solidFill>
            <a:srgbClr val="FFFFFF"/>
          </a:solidFill>
          <a:ln w="12700">
            <a:solidFill>
              <a:srgbClr val="E1E6EC"/>
            </a:solidFill>
            <a:prstDash val="solid"/>
          </a:ln>
          <a:effectLst>
            <a:outerShdw sx="100000" sy="100000" kx="0" ky="0" algn="bl" rotWithShape="0" blurRad="76200" dist="25400" dir="5400000">
              <a:srgbClr val="000000">
                <a:alpha val="12000"/>
              </a:srgbClr>
            </a:outerShdw>
          </a:effectLst>
        </p:spPr>
      </p:sp>
      <p:sp>
        <p:nvSpPr>
          <p:cNvPr id="15" name="Shape 11"/>
          <p:cNvSpPr/>
          <p:nvPr/>
        </p:nvSpPr>
        <p:spPr>
          <a:xfrm>
            <a:off x="6318504" y="1554480"/>
            <a:ext cx="566928" cy="566928"/>
          </a:xfrm>
          <a:prstGeom prst="ellipse">
            <a:avLst/>
          </a:prstGeom>
          <a:solidFill>
            <a:srgbClr val="14B8A6"/>
          </a:solidFill>
          <a:ln/>
        </p:spPr>
      </p:sp>
      <p:pic>
        <p:nvPicPr>
          <p:cNvPr id="16" name="Image 2" descr="preencoded.png">    </p:cNvPr>
          <p:cNvPicPr>
            <a:picLocks noChangeAspect="1"/>
          </p:cNvPicPr>
          <p:nvPr/>
        </p:nvPicPr>
        <p:blipFill>
          <a:blip r:embed="rId3"/>
          <a:stretch>
            <a:fillRect/>
          </a:stretch>
        </p:blipFill>
        <p:spPr>
          <a:xfrm>
            <a:off x="6446520" y="1682496"/>
            <a:ext cx="310896" cy="310896"/>
          </a:xfrm>
          <a:prstGeom prst="rect">
            <a:avLst/>
          </a:prstGeom>
        </p:spPr>
      </p:pic>
      <p:sp>
        <p:nvSpPr>
          <p:cNvPr id="17" name="Text 12"/>
          <p:cNvSpPr txBox="1"/>
          <p:nvPr/>
        </p:nvSpPr>
        <p:spPr>
          <a:xfrm>
            <a:off x="6318504" y="2240280"/>
            <a:ext cx="2139696" cy="365760"/>
          </a:xfrm>
          <a:prstGeom prst="rect">
            <a:avLst/>
          </a:prstGeom>
          <a:noFill/>
          <a:ln/>
        </p:spPr>
        <p:txBody>
          <a:bodyPr wrap="square" lIns="0" tIns="0" rIns="0" bIns="0" rtlCol="0" anchor="ctr"/>
          <a:lstStyle/>
          <a:p>
            <a:pPr indent="0" marL="0">
              <a:buNone/>
            </a:pPr>
            <a:r>
              <a:rPr lang="en-US" sz="1700" b="1" dirty="0">
                <a:solidFill>
                  <a:srgbClr val="0E1B2C"/>
                </a:solidFill>
                <a:latin typeface="Cambria" pitchFamily="34" charset="0"/>
                <a:ea typeface="Cambria" pitchFamily="34" charset="-122"/>
                <a:cs typeface="Cambria" pitchFamily="34" charset="-120"/>
              </a:rPr>
              <a:t>Agrícola</a:t>
            </a:r>
            <a:endParaRPr lang="en-US" sz="1700" dirty="0"/>
          </a:p>
        </p:txBody>
      </p:sp>
      <p:sp>
        <p:nvSpPr>
          <p:cNvPr id="18" name="Text 13"/>
          <p:cNvSpPr txBox="1"/>
          <p:nvPr/>
        </p:nvSpPr>
        <p:spPr>
          <a:xfrm>
            <a:off x="6318504" y="2651760"/>
            <a:ext cx="2231136" cy="1737360"/>
          </a:xfrm>
          <a:prstGeom prst="rect">
            <a:avLst/>
          </a:prstGeom>
          <a:noFill/>
          <a:ln/>
        </p:spPr>
        <p:txBody>
          <a:bodyPr wrap="square" lIns="0" tIns="0" rIns="0" bIns="0" rtlCol="0" anchor="t"/>
          <a:lstStyle/>
          <a:p>
            <a:pPr marL="342900" indent="-342900">
              <a:spcAft>
                <a:spcPts val="600"/>
              </a:spcAft>
              <a:buSzPct val="100000"/>
              <a:buChar char="•"/>
            </a:pPr>
            <a:r>
              <a:rPr lang="en-US" sz="1100" dirty="0">
                <a:solidFill>
                  <a:srgbClr val="1F2A37"/>
                </a:solidFill>
                <a:latin typeface="Calibri" pitchFamily="34" charset="0"/>
                <a:ea typeface="Calibri" pitchFamily="34" charset="-122"/>
                <a:cs typeface="Calibri" pitchFamily="34" charset="-120"/>
              </a:rPr>
              <a:t>Certificar variedades de cultivos y razas de ganado.</a:t>
            </a:r>
            <a:endParaRPr lang="en-US" sz="1100" dirty="0"/>
          </a:p>
          <a:p>
            <a:pPr marL="342900" indent="-342900">
              <a:spcAft>
                <a:spcPts val="600"/>
              </a:spcAft>
              <a:buSzPct val="100000"/>
              <a:buChar char="•"/>
            </a:pPr>
            <a:r>
              <a:rPr lang="en-US" sz="1100" dirty="0">
                <a:solidFill>
                  <a:srgbClr val="1F2A37"/>
                </a:solidFill>
                <a:latin typeface="Calibri" pitchFamily="34" charset="0"/>
                <a:ea typeface="Calibri" pitchFamily="34" charset="-122"/>
                <a:cs typeface="Calibri" pitchFamily="34" charset="-120"/>
              </a:rPr>
              <a:t>Rastrear el origen de la carne (trazabilidad).</a:t>
            </a:r>
            <a:endParaRPr lang="en-US" sz="1100" dirty="0"/>
          </a:p>
          <a:p>
            <a:pPr marL="342900" indent="-342900">
              <a:spcAft>
                <a:spcPts val="600"/>
              </a:spcAft>
              <a:buSzPct val="100000"/>
              <a:buChar char="•"/>
            </a:pPr>
            <a:r>
              <a:rPr lang="en-US" sz="1100" dirty="0">
                <a:solidFill>
                  <a:srgbClr val="1F2A37"/>
                </a:solidFill>
                <a:latin typeface="Calibri" pitchFamily="34" charset="0"/>
                <a:ea typeface="Calibri" pitchFamily="34" charset="-122"/>
                <a:cs typeface="Calibri" pitchFamily="34" charset="-120"/>
              </a:rPr>
              <a:t>Ambiental: combatir el tráfico de especies en peligro.</a:t>
            </a:r>
            <a:endParaRPr lang="en-US" sz="1100" dirty="0"/>
          </a:p>
        </p:txBody>
      </p:sp>
      <p:sp>
        <p:nvSpPr>
          <p:cNvPr id="19" name="Text 14"/>
          <p:cNvSpPr txBox="1"/>
          <p:nvPr/>
        </p:nvSpPr>
        <p:spPr>
          <a:xfrm>
            <a:off x="4937760" y="4754880"/>
            <a:ext cx="3931920" cy="274320"/>
          </a:xfrm>
          <a:prstGeom prst="rect">
            <a:avLst/>
          </a:prstGeom>
          <a:noFill/>
          <a:ln/>
        </p:spPr>
        <p:txBody>
          <a:bodyPr wrap="square" lIns="0" tIns="0" rIns="0" bIns="0" rtlCol="0" anchor="ctr"/>
          <a:lstStyle/>
          <a:p>
            <a:pPr algn="r" indent="0" marL="0">
              <a:buNone/>
            </a:pPr>
            <a:r>
              <a:rPr lang="en-US" sz="1100" b="1" dirty="0">
                <a:solidFill>
                  <a:srgbClr val="1F2A37"/>
                </a:solidFill>
                <a:latin typeface="Calibri" pitchFamily="34" charset="0"/>
                <a:ea typeface="Calibri" pitchFamily="34" charset="-122"/>
                <a:cs typeface="Calibri" pitchFamily="34" charset="-120"/>
              </a:rPr>
              <a:t>Amet [Apellidos]</a:t>
            </a:r>
            <a:endParaRPr lang="en-US" sz="11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7FA"/>
        </a:solidFill>
      </p:bgPr>
    </p:bg>
    <p:spTree>
      <p:nvGrpSpPr>
        <p:cNvPr id="1" name=""/>
        <p:cNvGrpSpPr/>
        <p:nvPr/>
      </p:nvGrpSpPr>
      <p:grpSpPr>
        <a:xfrm>
          <a:off x="0" y="0"/>
          <a:ext cx="0" cy="0"/>
          <a:chOff x="0" y="0"/>
          <a:chExt cx="0" cy="0"/>
        </a:xfrm>
      </p:grpSpPr>
      <p:sp>
        <p:nvSpPr>
          <p:cNvPr id="2" name="Text 0"/>
          <p:cNvSpPr txBox="1"/>
          <p:nvPr/>
        </p:nvSpPr>
        <p:spPr>
          <a:xfrm>
            <a:off x="457200" y="274320"/>
            <a:ext cx="5486400" cy="274320"/>
          </a:xfrm>
          <a:prstGeom prst="rect">
            <a:avLst/>
          </a:prstGeom>
          <a:noFill/>
          <a:ln/>
        </p:spPr>
        <p:txBody>
          <a:bodyPr wrap="square" lIns="0" tIns="0" rIns="0" bIns="0" rtlCol="0" anchor="ctr"/>
          <a:lstStyle/>
          <a:p>
            <a:pPr indent="0" marL="0">
              <a:buNone/>
            </a:pPr>
            <a:r>
              <a:rPr lang="en-US" sz="1100" b="1" spc="200" kern="0" dirty="0">
                <a:solidFill>
                  <a:srgbClr val="5B6573"/>
                </a:solidFill>
                <a:latin typeface="Calibri" pitchFamily="34" charset="0"/>
                <a:ea typeface="Calibri" pitchFamily="34" charset="-122"/>
                <a:cs typeface="Calibri" pitchFamily="34" charset="-120"/>
              </a:rPr>
              <a:t>FUENTES (APA 7)</a:t>
            </a:r>
            <a:endParaRPr lang="en-US" sz="1100" dirty="0"/>
          </a:p>
        </p:txBody>
      </p:sp>
      <p:sp>
        <p:nvSpPr>
          <p:cNvPr id="3" name="Text 1"/>
          <p:cNvSpPr txBox="1"/>
          <p:nvPr/>
        </p:nvSpPr>
        <p:spPr>
          <a:xfrm>
            <a:off x="457200" y="548640"/>
            <a:ext cx="8229600" cy="594360"/>
          </a:xfrm>
          <a:prstGeom prst="rect">
            <a:avLst/>
          </a:prstGeom>
          <a:noFill/>
          <a:ln/>
        </p:spPr>
        <p:txBody>
          <a:bodyPr wrap="square" lIns="0" tIns="0" rIns="0" bIns="0" rtlCol="0" anchor="ctr"/>
          <a:lstStyle/>
          <a:p>
            <a:pPr indent="0" marL="0">
              <a:buNone/>
            </a:pPr>
            <a:r>
              <a:rPr lang="en-US" sz="3200" b="1" dirty="0">
                <a:solidFill>
                  <a:srgbClr val="0E1B2C"/>
                </a:solidFill>
                <a:latin typeface="Cambria" pitchFamily="34" charset="0"/>
                <a:ea typeface="Cambria" pitchFamily="34" charset="-122"/>
                <a:cs typeface="Cambria" pitchFamily="34" charset="-120"/>
              </a:rPr>
              <a:t>Referencias</a:t>
            </a:r>
            <a:endParaRPr lang="en-US" sz="3200" dirty="0"/>
          </a:p>
        </p:txBody>
      </p:sp>
      <p:sp>
        <p:nvSpPr>
          <p:cNvPr id="4" name="Shape 2"/>
          <p:cNvSpPr/>
          <p:nvPr/>
        </p:nvSpPr>
        <p:spPr>
          <a:xfrm>
            <a:off x="7955280" y="411480"/>
            <a:ext cx="731520" cy="731520"/>
          </a:xfrm>
          <a:prstGeom prst="ellipse">
            <a:avLst/>
          </a:prstGeom>
          <a:solidFill>
            <a:srgbClr val="0E1B2C"/>
          </a:solidFill>
          <a:ln/>
        </p:spPr>
      </p:sp>
      <p:pic>
        <p:nvPicPr>
          <p:cNvPr id="5" name="Image 0" descr="preencoded.png">    </p:cNvPr>
          <p:cNvPicPr>
            <a:picLocks noChangeAspect="1"/>
          </p:cNvPicPr>
          <p:nvPr/>
        </p:nvPicPr>
        <p:blipFill>
          <a:blip r:embed="rId1"/>
          <a:stretch>
            <a:fillRect/>
          </a:stretch>
        </p:blipFill>
        <p:spPr>
          <a:xfrm>
            <a:off x="8138160" y="594360"/>
            <a:ext cx="365760" cy="365760"/>
          </a:xfrm>
          <a:prstGeom prst="rect">
            <a:avLst/>
          </a:prstGeom>
        </p:spPr>
      </p:pic>
      <p:sp>
        <p:nvSpPr>
          <p:cNvPr id="6" name="Text 3"/>
          <p:cNvSpPr txBox="1"/>
          <p:nvPr/>
        </p:nvSpPr>
        <p:spPr>
          <a:xfrm>
            <a:off x="457200" y="1371600"/>
            <a:ext cx="8229600" cy="3108960"/>
          </a:xfrm>
          <a:prstGeom prst="rect">
            <a:avLst/>
          </a:prstGeom>
          <a:noFill/>
          <a:ln/>
        </p:spPr>
        <p:txBody>
          <a:bodyPr wrap="square" lIns="0" tIns="0" rIns="0" bIns="0" rtlCol="0" anchor="t"/>
          <a:lstStyle/>
          <a:p>
            <a:pPr indent="0" marL="0">
              <a:spcAft>
                <a:spcPts val="1200"/>
              </a:spcAft>
              <a:buNone/>
            </a:pPr>
            <a:r>
              <a:rPr lang="en-US" sz="1300" dirty="0">
                <a:solidFill>
                  <a:srgbClr val="1F2A37"/>
                </a:solidFill>
                <a:latin typeface="Calibri" pitchFamily="34" charset="0"/>
                <a:ea typeface="Calibri" pitchFamily="34" charset="-122"/>
                <a:cs typeface="Calibri" pitchFamily="34" charset="-120"/>
              </a:rPr>
              <a:t>Audesirk, T., Audesirk, G., &amp; Byers, B. E. (2017). </a:t>
            </a:r>
            <a:pPr indent="0" marL="0">
              <a:spcAft>
                <a:spcPts val="1200"/>
              </a:spcAft>
              <a:buNone/>
            </a:pPr>
            <a:r>
              <a:rPr lang="en-US" sz="1300" i="1" dirty="0">
                <a:solidFill>
                  <a:srgbClr val="1F2A37"/>
                </a:solidFill>
                <a:latin typeface="Calibri" pitchFamily="34" charset="0"/>
                <a:ea typeface="Calibri" pitchFamily="34" charset="-122"/>
                <a:cs typeface="Calibri" pitchFamily="34" charset="-120"/>
              </a:rPr>
              <a:t>Biología: La vida en la Tierra con fisiología</a:t>
            </a:r>
            <a:pPr indent="0" marL="0">
              <a:spcAft>
                <a:spcPts val="1200"/>
              </a:spcAft>
              <a:buNone/>
            </a:pPr>
            <a:r>
              <a:rPr lang="en-US" sz="1300" dirty="0">
                <a:solidFill>
                  <a:srgbClr val="1F2A37"/>
                </a:solidFill>
                <a:latin typeface="Calibri" pitchFamily="34" charset="0"/>
                <a:ea typeface="Calibri" pitchFamily="34" charset="-122"/>
                <a:cs typeface="Calibri" pitchFamily="34" charset="-120"/>
              </a:rPr>
              <a:t> (10.ª ed.). Pearson Educación.</a:t>
            </a:r>
            <a:endParaRPr lang="en-US" sz="1300" dirty="0"/>
          </a:p>
          <a:p>
            <a:pPr indent="0" marL="0">
              <a:spcAft>
                <a:spcPts val="1200"/>
              </a:spcAft>
              <a:buNone/>
            </a:pPr>
            <a:r>
              <a:rPr lang="en-US" sz="1300" dirty="0">
                <a:solidFill>
                  <a:srgbClr val="1F2A37"/>
                </a:solidFill>
                <a:latin typeface="Calibri" pitchFamily="34" charset="0"/>
                <a:ea typeface="Calibri" pitchFamily="34" charset="-122"/>
                <a:cs typeface="Calibri" pitchFamily="34" charset="-120"/>
              </a:rPr>
              <a:t>Butler, J. M. (2006). Genetics and genomics of core short tandem repeat loci used in human identity testing. </a:t>
            </a:r>
            <a:pPr indent="0" marL="0">
              <a:spcAft>
                <a:spcPts val="1200"/>
              </a:spcAft>
              <a:buNone/>
            </a:pPr>
            <a:r>
              <a:rPr lang="en-US" sz="1300" i="1" dirty="0">
                <a:solidFill>
                  <a:srgbClr val="1F2A37"/>
                </a:solidFill>
                <a:latin typeface="Calibri" pitchFamily="34" charset="0"/>
                <a:ea typeface="Calibri" pitchFamily="34" charset="-122"/>
                <a:cs typeface="Calibri" pitchFamily="34" charset="-120"/>
              </a:rPr>
              <a:t>Journal of Forensic Sciences, 51</a:t>
            </a:r>
            <a:pPr indent="0" marL="0">
              <a:spcAft>
                <a:spcPts val="1200"/>
              </a:spcAft>
              <a:buNone/>
            </a:pPr>
            <a:r>
              <a:rPr lang="en-US" sz="1300" dirty="0">
                <a:solidFill>
                  <a:srgbClr val="1F2A37"/>
                </a:solidFill>
                <a:latin typeface="Calibri" pitchFamily="34" charset="0"/>
                <a:ea typeface="Calibri" pitchFamily="34" charset="-122"/>
                <a:cs typeface="Calibri" pitchFamily="34" charset="-120"/>
              </a:rPr>
              <a:t>(2), 253–265. https://doi.org/10.1111/j.1556-4029.2006.00046.x</a:t>
            </a:r>
            <a:endParaRPr lang="en-US" sz="1300" dirty="0"/>
          </a:p>
          <a:p>
            <a:pPr indent="0" marL="0">
              <a:spcAft>
                <a:spcPts val="1200"/>
              </a:spcAft>
              <a:buNone/>
            </a:pPr>
            <a:r>
              <a:rPr lang="en-US" sz="1300" dirty="0">
                <a:solidFill>
                  <a:srgbClr val="1F2A37"/>
                </a:solidFill>
                <a:latin typeface="Calibri" pitchFamily="34" charset="0"/>
                <a:ea typeface="Calibri" pitchFamily="34" charset="-122"/>
                <a:cs typeface="Calibri" pitchFamily="34" charset="-120"/>
              </a:rPr>
              <a:t>Hares, D. R. (2015). Selection and implementation of expanded CODIS core loci in the United States. </a:t>
            </a:r>
            <a:pPr indent="0" marL="0">
              <a:spcAft>
                <a:spcPts val="1200"/>
              </a:spcAft>
              <a:buNone/>
            </a:pPr>
            <a:r>
              <a:rPr lang="en-US" sz="1300" i="1" dirty="0">
                <a:solidFill>
                  <a:srgbClr val="1F2A37"/>
                </a:solidFill>
                <a:latin typeface="Calibri" pitchFamily="34" charset="0"/>
                <a:ea typeface="Calibri" pitchFamily="34" charset="-122"/>
                <a:cs typeface="Calibri" pitchFamily="34" charset="-120"/>
              </a:rPr>
              <a:t>Forensic Science International: Genetics, 17</a:t>
            </a:r>
            <a:pPr indent="0" marL="0">
              <a:spcAft>
                <a:spcPts val="1200"/>
              </a:spcAft>
              <a:buNone/>
            </a:pPr>
            <a:r>
              <a:rPr lang="en-US" sz="1300" dirty="0">
                <a:solidFill>
                  <a:srgbClr val="1F2A37"/>
                </a:solidFill>
                <a:latin typeface="Calibri" pitchFamily="34" charset="0"/>
                <a:ea typeface="Calibri" pitchFamily="34" charset="-122"/>
                <a:cs typeface="Calibri" pitchFamily="34" charset="-120"/>
              </a:rPr>
              <a:t>, 33–34. https://doi.org/10.1016/j.fsigen.2015.03.006</a:t>
            </a:r>
            <a:endParaRPr lang="en-US" sz="1300" dirty="0"/>
          </a:p>
          <a:p>
            <a:pPr indent="0" marL="0">
              <a:spcAft>
                <a:spcPts val="1200"/>
              </a:spcAft>
              <a:buNone/>
            </a:pPr>
            <a:r>
              <a:rPr lang="en-US" sz="1300" dirty="0">
                <a:solidFill>
                  <a:srgbClr val="1F2A37"/>
                </a:solidFill>
                <a:latin typeface="Calibri" pitchFamily="34" charset="0"/>
                <a:ea typeface="Calibri" pitchFamily="34" charset="-122"/>
                <a:cs typeface="Calibri" pitchFamily="34" charset="-120"/>
              </a:rPr>
              <a:t>National Human Genome Research Institute. (s.f.). </a:t>
            </a:r>
            <a:pPr indent="0" marL="0">
              <a:spcAft>
                <a:spcPts val="1200"/>
              </a:spcAft>
              <a:buNone/>
            </a:pPr>
            <a:r>
              <a:rPr lang="en-US" sz="1300" i="1" dirty="0">
                <a:solidFill>
                  <a:srgbClr val="1F2A37"/>
                </a:solidFill>
                <a:latin typeface="Calibri" pitchFamily="34" charset="0"/>
                <a:ea typeface="Calibri" pitchFamily="34" charset="-122"/>
                <a:cs typeface="Calibri" pitchFamily="34" charset="-120"/>
              </a:rPr>
              <a:t>Tandem repeat</a:t>
            </a:r>
            <a:pPr indent="0" marL="0">
              <a:spcAft>
                <a:spcPts val="1200"/>
              </a:spcAft>
              <a:buNone/>
            </a:pPr>
            <a:r>
              <a:rPr lang="en-US" sz="1300" dirty="0">
                <a:solidFill>
                  <a:srgbClr val="1F2A37"/>
                </a:solidFill>
                <a:latin typeface="Calibri" pitchFamily="34" charset="0"/>
                <a:ea typeface="Calibri" pitchFamily="34" charset="-122"/>
                <a:cs typeface="Calibri" pitchFamily="34" charset="-120"/>
              </a:rPr>
              <a:t>. Talking Glossary of Genomic and Genetic Terms. https://www.genome.gov/genetics-glossary/Tandem-Repeat</a:t>
            </a:r>
            <a:endParaRPr lang="en-US" sz="13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E1B2C"/>
        </a:solidFill>
      </p:bgPr>
    </p:bg>
    <p:spTree>
      <p:nvGrpSpPr>
        <p:cNvPr id="1" name=""/>
        <p:cNvGrpSpPr/>
        <p:nvPr/>
      </p:nvGrpSpPr>
      <p:grpSpPr>
        <a:xfrm>
          <a:off x="0" y="0"/>
          <a:ext cx="0" cy="0"/>
          <a:chOff x="0" y="0"/>
          <a:chExt cx="0" cy="0"/>
        </a:xfrm>
      </p:grpSpPr>
      <p:sp>
        <p:nvSpPr>
          <p:cNvPr id="2" name="Shape 0"/>
          <p:cNvSpPr/>
          <p:nvPr/>
        </p:nvSpPr>
        <p:spPr>
          <a:xfrm>
            <a:off x="457200" y="502920"/>
            <a:ext cx="603504" cy="310896"/>
          </a:xfrm>
          <a:prstGeom prst="roundRect">
            <a:avLst>
              <a:gd name="adj" fmla="val 17647"/>
            </a:avLst>
          </a:prstGeom>
          <a:solidFill>
            <a:srgbClr val="14B8A6"/>
          </a:solidFill>
          <a:ln/>
        </p:spPr>
      </p:sp>
      <p:sp>
        <p:nvSpPr>
          <p:cNvPr id="3" name="Text 1"/>
          <p:cNvSpPr txBox="1"/>
          <p:nvPr/>
        </p:nvSpPr>
        <p:spPr>
          <a:xfrm>
            <a:off x="457200" y="502920"/>
            <a:ext cx="60350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AGAT</a:t>
            </a:r>
            <a:endParaRPr lang="en-US" sz="1000" dirty="0"/>
          </a:p>
        </p:txBody>
      </p:sp>
      <p:sp>
        <p:nvSpPr>
          <p:cNvPr id="4" name="Shape 2"/>
          <p:cNvSpPr/>
          <p:nvPr/>
        </p:nvSpPr>
        <p:spPr>
          <a:xfrm>
            <a:off x="1115568" y="502920"/>
            <a:ext cx="603504" cy="310896"/>
          </a:xfrm>
          <a:prstGeom prst="roundRect">
            <a:avLst>
              <a:gd name="adj" fmla="val 17647"/>
            </a:avLst>
          </a:prstGeom>
          <a:solidFill>
            <a:srgbClr val="F6B93B"/>
          </a:solidFill>
          <a:ln/>
        </p:spPr>
      </p:sp>
      <p:sp>
        <p:nvSpPr>
          <p:cNvPr id="5" name="Text 3"/>
          <p:cNvSpPr txBox="1"/>
          <p:nvPr/>
        </p:nvSpPr>
        <p:spPr>
          <a:xfrm>
            <a:off x="1115568" y="502920"/>
            <a:ext cx="60350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AGAT</a:t>
            </a:r>
            <a:endParaRPr lang="en-US" sz="1000" dirty="0"/>
          </a:p>
        </p:txBody>
      </p:sp>
      <p:sp>
        <p:nvSpPr>
          <p:cNvPr id="6" name="Shape 4"/>
          <p:cNvSpPr/>
          <p:nvPr/>
        </p:nvSpPr>
        <p:spPr>
          <a:xfrm>
            <a:off x="1773936" y="502920"/>
            <a:ext cx="603504" cy="310896"/>
          </a:xfrm>
          <a:prstGeom prst="roundRect">
            <a:avLst>
              <a:gd name="adj" fmla="val 17647"/>
            </a:avLst>
          </a:prstGeom>
          <a:solidFill>
            <a:srgbClr val="E4407B"/>
          </a:solidFill>
          <a:ln/>
        </p:spPr>
      </p:sp>
      <p:sp>
        <p:nvSpPr>
          <p:cNvPr id="7" name="Text 5"/>
          <p:cNvSpPr txBox="1"/>
          <p:nvPr/>
        </p:nvSpPr>
        <p:spPr>
          <a:xfrm>
            <a:off x="1773936" y="502920"/>
            <a:ext cx="60350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AGAT</a:t>
            </a:r>
            <a:endParaRPr lang="en-US" sz="1000" dirty="0"/>
          </a:p>
        </p:txBody>
      </p:sp>
      <p:sp>
        <p:nvSpPr>
          <p:cNvPr id="8" name="Shape 6"/>
          <p:cNvSpPr/>
          <p:nvPr/>
        </p:nvSpPr>
        <p:spPr>
          <a:xfrm>
            <a:off x="2432304" y="502920"/>
            <a:ext cx="603504" cy="310896"/>
          </a:xfrm>
          <a:prstGeom prst="roundRect">
            <a:avLst>
              <a:gd name="adj" fmla="val 17647"/>
            </a:avLst>
          </a:prstGeom>
          <a:solidFill>
            <a:srgbClr val="6C83F5"/>
          </a:solidFill>
          <a:ln/>
        </p:spPr>
      </p:sp>
      <p:sp>
        <p:nvSpPr>
          <p:cNvPr id="9" name="Text 7"/>
          <p:cNvSpPr txBox="1"/>
          <p:nvPr/>
        </p:nvSpPr>
        <p:spPr>
          <a:xfrm>
            <a:off x="2432304" y="502920"/>
            <a:ext cx="60350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AGAT</a:t>
            </a:r>
            <a:endParaRPr lang="en-US" sz="1000" dirty="0"/>
          </a:p>
        </p:txBody>
      </p:sp>
      <p:sp>
        <p:nvSpPr>
          <p:cNvPr id="10" name="Shape 8"/>
          <p:cNvSpPr/>
          <p:nvPr/>
        </p:nvSpPr>
        <p:spPr>
          <a:xfrm>
            <a:off x="3090672" y="502920"/>
            <a:ext cx="603504" cy="310896"/>
          </a:xfrm>
          <a:prstGeom prst="roundRect">
            <a:avLst>
              <a:gd name="adj" fmla="val 17647"/>
            </a:avLst>
          </a:prstGeom>
          <a:solidFill>
            <a:srgbClr val="14B8A6"/>
          </a:solidFill>
          <a:ln/>
        </p:spPr>
      </p:sp>
      <p:sp>
        <p:nvSpPr>
          <p:cNvPr id="11" name="Text 9"/>
          <p:cNvSpPr txBox="1"/>
          <p:nvPr/>
        </p:nvSpPr>
        <p:spPr>
          <a:xfrm>
            <a:off x="3090672" y="502920"/>
            <a:ext cx="60350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AGAT</a:t>
            </a:r>
            <a:endParaRPr lang="en-US" sz="1000" dirty="0"/>
          </a:p>
        </p:txBody>
      </p:sp>
      <p:sp>
        <p:nvSpPr>
          <p:cNvPr id="12" name="Shape 10"/>
          <p:cNvSpPr/>
          <p:nvPr/>
        </p:nvSpPr>
        <p:spPr>
          <a:xfrm>
            <a:off x="3749040" y="502920"/>
            <a:ext cx="603504" cy="310896"/>
          </a:xfrm>
          <a:prstGeom prst="roundRect">
            <a:avLst>
              <a:gd name="adj" fmla="val 17647"/>
            </a:avLst>
          </a:prstGeom>
          <a:solidFill>
            <a:srgbClr val="F6B93B"/>
          </a:solidFill>
          <a:ln/>
        </p:spPr>
      </p:sp>
      <p:sp>
        <p:nvSpPr>
          <p:cNvPr id="13" name="Text 11"/>
          <p:cNvSpPr txBox="1"/>
          <p:nvPr/>
        </p:nvSpPr>
        <p:spPr>
          <a:xfrm>
            <a:off x="3749040" y="502920"/>
            <a:ext cx="60350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AGAT</a:t>
            </a:r>
            <a:endParaRPr lang="en-US" sz="1000" dirty="0"/>
          </a:p>
        </p:txBody>
      </p:sp>
      <p:sp>
        <p:nvSpPr>
          <p:cNvPr id="14" name="Shape 12"/>
          <p:cNvSpPr/>
          <p:nvPr/>
        </p:nvSpPr>
        <p:spPr>
          <a:xfrm>
            <a:off x="4407408" y="502920"/>
            <a:ext cx="603504" cy="310896"/>
          </a:xfrm>
          <a:prstGeom prst="roundRect">
            <a:avLst>
              <a:gd name="adj" fmla="val 17647"/>
            </a:avLst>
          </a:prstGeom>
          <a:solidFill>
            <a:srgbClr val="E4407B"/>
          </a:solidFill>
          <a:ln/>
        </p:spPr>
      </p:sp>
      <p:sp>
        <p:nvSpPr>
          <p:cNvPr id="15" name="Text 13"/>
          <p:cNvSpPr txBox="1"/>
          <p:nvPr/>
        </p:nvSpPr>
        <p:spPr>
          <a:xfrm>
            <a:off x="4407408" y="502920"/>
            <a:ext cx="60350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AGAT</a:t>
            </a:r>
            <a:endParaRPr lang="en-US" sz="1000" dirty="0"/>
          </a:p>
        </p:txBody>
      </p:sp>
      <p:sp>
        <p:nvSpPr>
          <p:cNvPr id="16" name="Shape 14"/>
          <p:cNvSpPr/>
          <p:nvPr/>
        </p:nvSpPr>
        <p:spPr>
          <a:xfrm>
            <a:off x="5065776" y="502920"/>
            <a:ext cx="603504" cy="310896"/>
          </a:xfrm>
          <a:prstGeom prst="roundRect">
            <a:avLst>
              <a:gd name="adj" fmla="val 17647"/>
            </a:avLst>
          </a:prstGeom>
          <a:solidFill>
            <a:srgbClr val="6C83F5"/>
          </a:solidFill>
          <a:ln/>
        </p:spPr>
      </p:sp>
      <p:sp>
        <p:nvSpPr>
          <p:cNvPr id="17" name="Text 15"/>
          <p:cNvSpPr txBox="1"/>
          <p:nvPr/>
        </p:nvSpPr>
        <p:spPr>
          <a:xfrm>
            <a:off x="5065776" y="502920"/>
            <a:ext cx="60350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AGAT</a:t>
            </a:r>
            <a:endParaRPr lang="en-US" sz="1000" dirty="0"/>
          </a:p>
        </p:txBody>
      </p:sp>
      <p:sp>
        <p:nvSpPr>
          <p:cNvPr id="18" name="Shape 16"/>
          <p:cNvSpPr/>
          <p:nvPr/>
        </p:nvSpPr>
        <p:spPr>
          <a:xfrm>
            <a:off x="5724144" y="502920"/>
            <a:ext cx="603504" cy="310896"/>
          </a:xfrm>
          <a:prstGeom prst="roundRect">
            <a:avLst>
              <a:gd name="adj" fmla="val 17647"/>
            </a:avLst>
          </a:prstGeom>
          <a:solidFill>
            <a:srgbClr val="14B8A6"/>
          </a:solidFill>
          <a:ln/>
        </p:spPr>
      </p:sp>
      <p:sp>
        <p:nvSpPr>
          <p:cNvPr id="19" name="Text 17"/>
          <p:cNvSpPr txBox="1"/>
          <p:nvPr/>
        </p:nvSpPr>
        <p:spPr>
          <a:xfrm>
            <a:off x="5724144" y="502920"/>
            <a:ext cx="60350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AGAT</a:t>
            </a:r>
            <a:endParaRPr lang="en-US" sz="1000" dirty="0"/>
          </a:p>
        </p:txBody>
      </p:sp>
      <p:sp>
        <p:nvSpPr>
          <p:cNvPr id="20" name="Shape 18"/>
          <p:cNvSpPr/>
          <p:nvPr/>
        </p:nvSpPr>
        <p:spPr>
          <a:xfrm>
            <a:off x="6382512" y="502920"/>
            <a:ext cx="603504" cy="310896"/>
          </a:xfrm>
          <a:prstGeom prst="roundRect">
            <a:avLst>
              <a:gd name="adj" fmla="val 17647"/>
            </a:avLst>
          </a:prstGeom>
          <a:solidFill>
            <a:srgbClr val="F6B93B"/>
          </a:solidFill>
          <a:ln/>
        </p:spPr>
      </p:sp>
      <p:sp>
        <p:nvSpPr>
          <p:cNvPr id="21" name="Text 19"/>
          <p:cNvSpPr txBox="1"/>
          <p:nvPr/>
        </p:nvSpPr>
        <p:spPr>
          <a:xfrm>
            <a:off x="6382512" y="502920"/>
            <a:ext cx="60350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AGAT</a:t>
            </a:r>
            <a:endParaRPr lang="en-US" sz="1000" dirty="0"/>
          </a:p>
        </p:txBody>
      </p:sp>
      <p:sp>
        <p:nvSpPr>
          <p:cNvPr id="22" name="Shape 20"/>
          <p:cNvSpPr/>
          <p:nvPr/>
        </p:nvSpPr>
        <p:spPr>
          <a:xfrm>
            <a:off x="7040880" y="502920"/>
            <a:ext cx="603504" cy="310896"/>
          </a:xfrm>
          <a:prstGeom prst="roundRect">
            <a:avLst>
              <a:gd name="adj" fmla="val 17647"/>
            </a:avLst>
          </a:prstGeom>
          <a:solidFill>
            <a:srgbClr val="E4407B"/>
          </a:solidFill>
          <a:ln/>
        </p:spPr>
      </p:sp>
      <p:sp>
        <p:nvSpPr>
          <p:cNvPr id="23" name="Text 21"/>
          <p:cNvSpPr txBox="1"/>
          <p:nvPr/>
        </p:nvSpPr>
        <p:spPr>
          <a:xfrm>
            <a:off x="7040880" y="502920"/>
            <a:ext cx="60350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AGAT</a:t>
            </a:r>
            <a:endParaRPr lang="en-US" sz="1000" dirty="0"/>
          </a:p>
        </p:txBody>
      </p:sp>
      <p:sp>
        <p:nvSpPr>
          <p:cNvPr id="24" name="Shape 22"/>
          <p:cNvSpPr/>
          <p:nvPr/>
        </p:nvSpPr>
        <p:spPr>
          <a:xfrm>
            <a:off x="7699248" y="502920"/>
            <a:ext cx="603504" cy="310896"/>
          </a:xfrm>
          <a:prstGeom prst="roundRect">
            <a:avLst>
              <a:gd name="adj" fmla="val 17647"/>
            </a:avLst>
          </a:prstGeom>
          <a:solidFill>
            <a:srgbClr val="6C83F5"/>
          </a:solidFill>
          <a:ln/>
        </p:spPr>
      </p:sp>
      <p:sp>
        <p:nvSpPr>
          <p:cNvPr id="25" name="Text 23"/>
          <p:cNvSpPr txBox="1"/>
          <p:nvPr/>
        </p:nvSpPr>
        <p:spPr>
          <a:xfrm>
            <a:off x="7699248" y="502920"/>
            <a:ext cx="603504" cy="310896"/>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AGAT</a:t>
            </a:r>
            <a:endParaRPr lang="en-US" sz="1000" dirty="0"/>
          </a:p>
        </p:txBody>
      </p:sp>
      <p:sp>
        <p:nvSpPr>
          <p:cNvPr id="26" name="Text 24"/>
          <p:cNvSpPr txBox="1"/>
          <p:nvPr/>
        </p:nvSpPr>
        <p:spPr>
          <a:xfrm>
            <a:off x="457200" y="1463040"/>
            <a:ext cx="8229600" cy="1005840"/>
          </a:xfrm>
          <a:prstGeom prst="rect">
            <a:avLst/>
          </a:prstGeom>
          <a:noFill/>
          <a:ln/>
        </p:spPr>
        <p:txBody>
          <a:bodyPr wrap="square" lIns="0" tIns="0" rIns="0" bIns="0" rtlCol="0" anchor="ctr"/>
          <a:lstStyle/>
          <a:p>
            <a:pPr indent="0" marL="0">
              <a:buNone/>
            </a:pPr>
            <a:r>
              <a:rPr lang="en-US" sz="6000" b="1" dirty="0">
                <a:solidFill>
                  <a:srgbClr val="FFFFFF"/>
                </a:solidFill>
                <a:latin typeface="Cambria" pitchFamily="34" charset="0"/>
                <a:ea typeface="Cambria" pitchFamily="34" charset="-122"/>
                <a:cs typeface="Cambria" pitchFamily="34" charset="-120"/>
              </a:rPr>
              <a:t>¡Gracias!</a:t>
            </a:r>
            <a:endParaRPr lang="en-US" sz="6000" dirty="0"/>
          </a:p>
        </p:txBody>
      </p:sp>
      <p:sp>
        <p:nvSpPr>
          <p:cNvPr id="27" name="Text 25"/>
          <p:cNvSpPr txBox="1"/>
          <p:nvPr/>
        </p:nvSpPr>
        <p:spPr>
          <a:xfrm>
            <a:off x="457200" y="2560320"/>
            <a:ext cx="7772400" cy="731520"/>
          </a:xfrm>
          <a:prstGeom prst="rect">
            <a:avLst/>
          </a:prstGeom>
          <a:noFill/>
          <a:ln/>
        </p:spPr>
        <p:txBody>
          <a:bodyPr wrap="square" lIns="0" tIns="0" rIns="0" bIns="0" rtlCol="0" anchor="ctr"/>
          <a:lstStyle/>
          <a:p>
            <a:pPr indent="0" marL="0">
              <a:buNone/>
            </a:pPr>
            <a:r>
              <a:rPr lang="en-US" sz="2000" i="1" dirty="0">
                <a:solidFill>
                  <a:srgbClr val="F6B93B"/>
                </a:solidFill>
                <a:latin typeface="Cambria" pitchFamily="34" charset="0"/>
                <a:ea typeface="Cambria" pitchFamily="34" charset="-122"/>
                <a:cs typeface="Cambria" pitchFamily="34" charset="-120"/>
              </a:rPr>
              <a:t>Unas cuantas repeticiones de cuatro letras bastan para distinguir a una persona entre miles de millones.</a:t>
            </a:r>
            <a:endParaRPr lang="en-US" sz="2000" dirty="0"/>
          </a:p>
        </p:txBody>
      </p:sp>
      <p:sp>
        <p:nvSpPr>
          <p:cNvPr id="28" name="Text 26"/>
          <p:cNvSpPr txBox="1"/>
          <p:nvPr/>
        </p:nvSpPr>
        <p:spPr>
          <a:xfrm>
            <a:off x="457200" y="3657600"/>
            <a:ext cx="8229600" cy="457200"/>
          </a:xfrm>
          <a:prstGeom prst="rect">
            <a:avLst/>
          </a:prstGeom>
          <a:noFill/>
          <a:ln/>
        </p:spPr>
        <p:txBody>
          <a:bodyPr wrap="square" lIns="0" tIns="0" rIns="0" bIns="0" rtlCol="0" anchor="ctr"/>
          <a:lstStyle/>
          <a:p>
            <a:pPr indent="0" marL="0">
              <a:buNone/>
            </a:pPr>
            <a:r>
              <a:rPr lang="en-US" sz="2000" b="1" dirty="0">
                <a:solidFill>
                  <a:srgbClr val="14B8A6"/>
                </a:solidFill>
                <a:latin typeface="Calibri" pitchFamily="34" charset="0"/>
                <a:ea typeface="Calibri" pitchFamily="34" charset="-122"/>
                <a:cs typeface="Calibri" pitchFamily="34" charset="-120"/>
              </a:rPr>
              <a:t>¿Preguntas?</a:t>
            </a:r>
            <a:endParaRPr lang="en-US" sz="2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STR - Repeticiones Cortas en Tándem</dc:title>
  <dc:subject>PptxGenJS Presentation</dc:subject>
  <dc:creator>PptxGenJS</dc:creator>
  <cp:lastModifiedBy>PptxGenJS</cp:lastModifiedBy>
  <cp:revision>1</cp:revision>
  <dcterms:created xsi:type="dcterms:W3CDTF">2026-09-29T01:09:35Z</dcterms:created>
  <dcterms:modified xsi:type="dcterms:W3CDTF">2026-09-29T01:09:35Z</dcterms:modified>
</cp:coreProperties>
</file>